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6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346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1170432"/>
            <a:ext cx="2194560" cy="2743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×  TO-BE  |  BID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1572768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Mapeamento de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 BID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13232" y="36118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de Chapas — Fluxo Operacional do Analista de BID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3232" y="4133088"/>
            <a:ext cx="3108960" cy="3474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133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 — Meu Chapa Manager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900" dirty="0"/>
          </a:p>
        </p:txBody>
      </p:sp>
      <p:pic>
        <p:nvPicPr>
          <p:cNvPr id="22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D78844D0-6BD9-2F9E-73EF-B2236AD3B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4018"/>
            <a:ext cx="976406" cy="868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pic>
        <p:nvPicPr>
          <p:cNvPr id="3" name="Image 0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o processo de BID?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ativa de chapas para preencher vagas em tarefas operacionais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81328"/>
            <a:ext cx="64008" cy="14173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BID?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84708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é o processo de captação ativa de chapas (ajudantes) para preencher vagas em tarefas que ainda estão em aberto. Diferente do FUP — que confirma a presença de quem já está alocado — o BID recruta novos ajudantes do zero, exigindo busca, filtragem, disparo de campanha, negociação e acompanhamento de resposta em tempo real.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97880" y="1481328"/>
            <a:ext cx="2971800" cy="1417320"/>
          </a:xfrm>
          <a:prstGeom prst="rect">
            <a:avLst/>
          </a:prstGeom>
          <a:solidFill>
            <a:srgbClr val="FFF0E6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97880" y="1481328"/>
            <a:ext cx="64008" cy="14173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15544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deste documento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3328" y="18745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Documentar o processo atual (AS-IS)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53328" y="21031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Evidenciar gargalos e ineficiências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53328" y="23317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Mapear como o MCM resolve cada etapa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53328" y="25603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Estimar ganhos de tempo e custo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3063240"/>
            <a:ext cx="8595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BID e FUP se relacionam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493008"/>
            <a:ext cx="64008" cy="9692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4930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— Captação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" y="376732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 chapas para vagas em aberto. Exige busca ativa, disparo de campanha e negociação.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91840" y="3493008"/>
            <a:ext cx="64008" cy="9692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29000" y="34930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FUP — Follow-Up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429000" y="376732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a presença de chapas já alocados próximos ao início da tarefa.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26480" y="3493008"/>
            <a:ext cx="64008" cy="9692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63640" y="34930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63640" y="376732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BID confirmar o chapa, o FUP assume o acompanhamento até a validação no local.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59436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</a:t>
            </a:r>
            <a:endParaRPr lang="en-US" sz="7000" dirty="0"/>
          </a:p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Atual</a:t>
            </a:r>
            <a:endParaRPr lang="en-US" sz="7000" dirty="0"/>
          </a:p>
        </p:txBody>
      </p:sp>
      <p:sp>
        <p:nvSpPr>
          <p:cNvPr id="5" name="Shape 3"/>
          <p:cNvSpPr/>
          <p:nvPr/>
        </p:nvSpPr>
        <p:spPr>
          <a:xfrm>
            <a:off x="713232" y="3291840"/>
            <a:ext cx="1371600" cy="640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AS-IS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3931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BID é feito hoje — sem o MCM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Geral — Processo Atual de BID (AS-IS)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macro do dia operacional do analista de BID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30352" y="1865376"/>
            <a:ext cx="7991856" cy="64008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346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8346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MeuChapa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0175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75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5–10 min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73736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3736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46304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46304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1790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51790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+ Excel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53619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3619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10–20 min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97180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7180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69748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69748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5234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75234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campanha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77063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7063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10–20 min/tarefa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20624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0624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93192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93192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8678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98678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chatbot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00507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0507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30–60 min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544068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4068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16636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16636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22122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Confirmar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22122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+ WhatsApp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23951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3951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15–30 min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67512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67512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40080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40080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5566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Stand-by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Ligações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45566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 + Google Maps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47395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7395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20–40 min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90956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90956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763524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763524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69010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FUP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769010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Repasse ao analista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770839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70839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Contínuo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74320" y="4700016"/>
            <a:ext cx="8595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  •  2 a 4 horas de BID ativo por dia  •  múltiplas tarefas e campanhas em simultâneo</a:t>
            </a:r>
            <a:endParaRPr lang="en-US" sz="1050" dirty="0"/>
          </a:p>
        </p:txBody>
      </p:sp>
      <p:pic>
        <p:nvPicPr>
          <p:cNvPr id="65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05C30D40-FEFD-7781-E928-9608446FC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Etapas 1–3: Verificação, Busca e Preparação de Dados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56587" y="11658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dashboard ao CSV pronto para disparo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1481328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481328"/>
            <a:ext cx="54864" cy="6400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192" y="16367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1554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dashboard MeuChapa online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18288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288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MeuChapa web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093976" y="18013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tarefas em aberto — linhas que precisam ser preenchidas com chapas.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2185416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185416"/>
            <a:ext cx="54864" cy="6400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" y="2340864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192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1520" y="22585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planilha "Busca Chapa"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1520" y="2532888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253288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MeuChapa export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2093976" y="250545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distância. Retorna até 200 contatos com 21 colunas.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2889504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2889504"/>
            <a:ext cx="54864" cy="6400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3192" y="3044952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3192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" y="29626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planilha no Excel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3236976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32369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2093976" y="3209544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19 colunas desnecessárias. Manter apenas Nome e Telefone.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74320" y="3593592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593592"/>
            <a:ext cx="54864" cy="6400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93192" y="3749040"/>
            <a:ext cx="256032" cy="256032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3192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31520" y="36667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(Deveria) Ranquear manualmente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31520" y="3941064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1520" y="3941064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próprio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2093976" y="3913632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correria, o ranqueamento é pulado e dispara-se para todos os 200 contatos.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74320" y="429768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74320" y="4297680"/>
            <a:ext cx="54864" cy="6400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93192" y="4453128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3192" y="4453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31520" y="43708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como CSV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31520" y="4645152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1520" y="4645152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Salvar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2093976" y="461772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arquivo CSV para upload na Umbler. Repetir para cada tarefa em aberto.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806440" y="1481328"/>
            <a:ext cx="3017520" cy="155448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06440" y="1481328"/>
            <a:ext cx="54864" cy="15544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16168" y="15727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5916168" y="1801368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planilha Busca Chapa tem 21 colunas. A cada disparo o analista precisa abrir o Excel, apagar manualmente as 19 colunas desnecessárias e exportar um novo CSV. Processo repetido para cada tarefa do dia.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806440" y="3154680"/>
            <a:ext cx="3017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806440" y="3154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10–20 min por tarefa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5806440" y="3547872"/>
            <a:ext cx="3017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5943600" y="3611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da planilha Busca Chapa: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7882128" y="3621024"/>
            <a:ext cx="777240" cy="201168"/>
          </a:xfrm>
          <a:prstGeom prst="rect">
            <a:avLst/>
          </a:prstGeom>
          <a:solidFill>
            <a:srgbClr val="FFF3F3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882128" y="36210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colunas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5943600" y="3895344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• Long • Cidade • Estado • ID Usuário • Telefone • Milhas • Cód. CEP • Distância • Últ. Nome • Apelido • 1º Nome • Referência • Complemento • Endereço • App Móvel • Tarefas • Verificação 1 • Verificação 2 • Status de Contato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61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E0421E17-B624-F6E9-ACAF-F5C9A361C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27481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 4: Disparo de Campanha BID na Umbler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391116" y="1143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campanha por tarefa — processo inteiramente manual e repetitivo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01056" y="804672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01056" y="804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111556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192" y="127101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11887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Umbler Talk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146304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46304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Talk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093976" y="143560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a plataforma de disparo de campanhas WhatsApp.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175564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175564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" y="191109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192" y="1911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1520" y="18288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nova campanha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1520" y="210312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210312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Talk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2093976" y="207568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campanha separada para cada tarefa (empresa + horário + local).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239572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239572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3192" y="25511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3192" y="2551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" y="24688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dados da tarefa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27432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27432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2093976" y="27157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 trabalho, atividades, valor da diária — tudo digitado manualmente.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74320" y="303580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03580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93192" y="319125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3192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31520" y="31089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CSV com os contatos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31520" y="338328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1520" y="338328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CSV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2093976" y="335584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 arquivo gerado no Excel. Até 200 contatos por campanha.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74320" y="367588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74320" y="367588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93192" y="383133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3192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31520" y="37490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Disparar e monitorar chatbot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31520" y="402336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1520" y="402336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chatbot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2093976" y="399592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Sim: chatbot sugere aceite no app (fluxo automático). Não: pergunta o motivo.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274320" y="431596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274320" y="431596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93192" y="447141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93192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31520" y="4389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Aguardar respostas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731520" y="466344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" y="466344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/ WhatsApp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093976" y="4622292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possível pausar o disparo em </a:t>
            </a:r>
            <a:r>
              <a:rPr lang="en-US" sz="85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</a:t>
            </a: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5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</a:t>
            </a: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levam</a:t>
            </a: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</a:t>
            </a: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40mins para </a:t>
            </a:r>
            <a:r>
              <a:rPr lang="en-US" sz="85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serem</a:t>
            </a: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executados</a:t>
            </a: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806440" y="1115568"/>
            <a:ext cx="3017520" cy="173736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806440" y="1115568"/>
            <a:ext cx="54864" cy="173736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16168" y="12070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5916168" y="1435608"/>
            <a:ext cx="2834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é inteiramente repetitivo: uma campanha completa do zero para cada tarefa. Com várias tarefas abertas simultaneamente, o analista pode criar e gerir 5 a 15 campanhas por dia — sem poder pausar nenhuma delas em tempo real.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5806440" y="2971800"/>
            <a:ext cx="3017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80644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10–20 min por tarefa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5806440" y="3346704"/>
            <a:ext cx="301752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5943600" y="34107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chatbot BID: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5943600" y="3685032"/>
            <a:ext cx="2743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Disparo → Pergunta de interesse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5943600" y="3840480"/>
            <a:ext cx="2743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 → Sugere aceite no app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5943600" y="3995928"/>
            <a:ext cx="2743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→ Pergunta motivo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943600" y="4151376"/>
            <a:ext cx="2743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RESPOSTA → Analista age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0" y="4978908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70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3948250A-B20E-7306-A012-A08D13627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Etapas 5–6: Monitoramento, Negociação e Handoff para FUP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etapa mais crítica e mais dependente de conhecimento tácito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1481328"/>
            <a:ext cx="530352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481328"/>
            <a:ext cx="54864" cy="63093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192" y="16367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1554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respostas em tempo real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18288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288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/ WhatsApp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093976" y="18013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quem respondeu "Sim", quem negou e quem não respondeu.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2167128"/>
            <a:ext cx="530352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167128"/>
            <a:ext cx="54864" cy="630936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" y="2322576"/>
            <a:ext cx="256032" cy="256032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192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1520" y="22402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chapas frequentes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1520" y="25146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25146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do analista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2093976" y="24871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manualmente nomes conhecidos para priorizar o contato.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2852928"/>
            <a:ext cx="530352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2852928"/>
            <a:ext cx="54864" cy="63093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3192" y="30083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3192" y="3008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" y="29260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valor da diária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32004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32004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cálculo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2093976" y="31729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planilha externa para garantir o take rate da MeuChapa.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74320" y="3538728"/>
            <a:ext cx="530352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538728"/>
            <a:ext cx="54864" cy="63093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93192" y="36941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3192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31520" y="36118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tempo de chegada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31520" y="38862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1520" y="38862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direto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2093976" y="38587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com o chapa em quanto tempo consegue chegar ao local.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74320" y="4224528"/>
            <a:ext cx="530352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74320" y="4224528"/>
            <a:ext cx="54864" cy="63093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93192" y="43799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3192" y="4379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31520" y="42976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 repassar ao FUP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31520" y="45720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1520" y="45720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MeuChapa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2093976" y="45445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ao analista de FUP os chapas confirmados para acompanhamento.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806440" y="1481328"/>
            <a:ext cx="3017520" cy="182880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06440" y="1481328"/>
            <a:ext cx="54864" cy="182880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16168" y="15727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5916168" y="1801368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da captação depende diretamente da memória individual do analista: quem são os frequentes, quem costuma aceitar, qual o perfil de cada chapa. Esse conhecimento não está documentado e não é compartilhado.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806440" y="3438144"/>
            <a:ext cx="3017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806440" y="3438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30–60 min por tarefa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5806440" y="3813048"/>
            <a:ext cx="3017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5943600" y="3877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tácito exigido: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943600" y="4142232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Memorizar chapas frequentes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943600" y="4279392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Negociar com persuão individual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943600" y="4416552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Estimar taxa de aceite por chapa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5943600" y="4553712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Decidir quando insistir ou desistir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62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CCB5AC15-EF7D-1D93-5502-7CF286ADA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Contingências: Stand-by, Ligações 3C e Tarefas Remotas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Situações que exigem esforço adicional significativo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1481328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481328"/>
            <a:ext cx="283464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5727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84048" y="198424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Stand-by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Tarefa já completa mas respostas ainda chegam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11480" y="26700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Analista deve manter chapas em stand-by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11480" y="29443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FUP sinaliza desistências em tempo real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11480" y="32186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BID aciona o stand-by para substituição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11480" y="34930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Coordenação manual entre dois analistas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3858768"/>
            <a:ext cx="2560320" cy="228600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Contínuo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11480" y="4160520"/>
            <a:ext cx="2560320" cy="548640"/>
          </a:xfrm>
          <a:prstGeom prst="rect">
            <a:avLst/>
          </a:prstGeom>
          <a:solidFill>
            <a:srgbClr val="FFF3F3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exclusivamente via WhatsApp, sem sistema centralizado de stand-by.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246120" y="1481328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1481328"/>
            <a:ext cx="2834640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55848" y="15727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355848" y="198424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Ligações via 3C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383280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Importar lista do Busca Chapa para 3C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383280" y="26700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Ligar para chapas sem resposta ao disparo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383280" y="29443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Número de call center: baixa taxa de atendimento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383280" y="32186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Taxa de sucesso de contato: menos de 10%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4930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Alto volume de tentativas com baixo retorno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383280" y="3858768"/>
            <a:ext cx="2560320" cy="228600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83280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20–40 min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383280" y="4160520"/>
            <a:ext cx="2560320" cy="548640"/>
          </a:xfrm>
          <a:prstGeom prst="rect">
            <a:avLst/>
          </a:prstGeom>
          <a:solidFill>
            <a:srgbClr val="FFF3F3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2900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call center gera desconfiança. Maioria não atende ou não reconhece a chamada.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217920" y="1481328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217920" y="1481328"/>
            <a:ext cx="2834640" cy="548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27648" y="15727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6327648" y="198424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Remotas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355080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Nenhum chapa disponível na base pelo Busca Chapa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55080" y="26700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Abrir Google Maps e localizar a região da tarefa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355080" y="29443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Identificar negócios locais nas redondezas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355080" y="32186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Ligar manualmente, um a um, por cada negócio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355080" y="34930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Perguntar se conhecem trabalhadores disponíveis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355080" y="3858768"/>
            <a:ext cx="2560320" cy="228600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55080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15–30 min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355080" y="4160520"/>
            <a:ext cx="2560320" cy="548640"/>
          </a:xfrm>
          <a:prstGeom prst="rect">
            <a:avLst/>
          </a:prstGeom>
          <a:solidFill>
            <a:srgbClr val="FFF3F3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0080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completamente manual. Depende de prospecção visual no mapa sem nenhuma automação.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49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0C15F633-304E-E02E-98CB-AD6C9A453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11327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Principais Gargalos do Processo Atual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515339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pontos críticos que impactam a eficiência e a escalabilidade do BID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798803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798803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90243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" y="1274291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Colunas Desnecessárias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4048" y="1566899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Busca Chapa exige edição manual a cada disparo.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4320" y="2188691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188691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2280131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84048" y="2664179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por Tarefa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4048" y="2956787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tarefa exige uma campanha Umbler completa do zero.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3578579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578579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70019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84048" y="4054067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Descentralizado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84048" y="4346675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Aceites e rejeições anteriores de BID não são consultáveis.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108960" y="798803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08960" y="798803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18688" y="890243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218688" y="1274291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Ranqueamento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218688" y="1566899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correria, dispara-se para todos os 200 sem critério de prioridade.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08960" y="2188691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108960" y="2188691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18688" y="2280131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218688" y="2664179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Externa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218688" y="2956787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cálculo de valor é separada, fora do fluxo de trabalho.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108960" y="3578579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108960" y="3578579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18688" y="3670019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218688" y="4054067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 com Menos de 10%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18688" y="4346675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call center tem taxa de atendimento menor que 10%. </a:t>
            </a:r>
            <a:r>
              <a:rPr lang="en-US" sz="8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</a:t>
            </a: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aparecem</a:t>
            </a: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SPAM/Call Centers para </a:t>
            </a:r>
            <a:r>
              <a:rPr lang="en-US" sz="8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</a:t>
            </a: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943600" y="798803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43600" y="798803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53328" y="890243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6053328" y="1274291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Visib. de Ocupação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053328" y="1566899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 já alocados em outras tarefas no mesmo dia são invisíveis.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943600" y="2188691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943600" y="2188691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53328" y="2280131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6053328" y="2664179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Lento/Sem Pausa em Tempo Real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053328" y="2956787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não permite pausar ou cancelar um disparo em </a:t>
            </a:r>
            <a:r>
              <a:rPr lang="en-US" sz="8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</a:t>
            </a: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Cada </a:t>
            </a:r>
            <a:r>
              <a:rPr lang="en-US" sz="8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</a:t>
            </a: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leva </a:t>
            </a:r>
            <a:r>
              <a:rPr lang="en-US" sz="8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</a:t>
            </a: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40mins.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943600" y="3578579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943600" y="3578579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53328" y="3670019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6053328" y="4054067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Tácito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053328" y="4346675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captação depende da memória individual do analista.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5720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Proposto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13232" y="3429000"/>
            <a:ext cx="1371600" cy="640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TO-BE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3232" y="4114800"/>
            <a:ext cx="34747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MCM — Meu Chapa Manager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Geral — BID com MCM (TO-BE)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MCM transforma cada etapa do processo de captação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901952"/>
            <a:ext cx="7900416" cy="64008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Local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260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 — tarefas + vagas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0040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1–2 min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993392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93392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673352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673352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37360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Ranqueamento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37360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160K chapas + score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764792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64792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Automático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438144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38144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118104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18104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82112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Disparar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182112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+ template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9544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9544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3–8 min/tarefa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882896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82896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562856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562856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26864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626864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por chapa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654296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54296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Automático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327648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27648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007608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007608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71616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071616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+ histórico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099048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099048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5–15 min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772400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77240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45236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452360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51636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751636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FUP assume no MCM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543800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54380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Instantâneo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74320" y="4700016"/>
            <a:ext cx="8595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  •  40 min a 1,5 hora de BID ativo  •  ranqueamento, histórico e controle centralizados no MCM</a:t>
            </a:r>
            <a:endParaRPr lang="en-US" sz="1050" dirty="0"/>
          </a:p>
        </p:txBody>
      </p:sp>
      <p:pic>
        <p:nvPicPr>
          <p:cNvPr id="57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0660C987-F2D6-C13E-1970-26149797B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Diferencial MCM: Ranqueamento Automático de Chapas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265176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MCM substitui o critério manual e a memória do analista por dados objetivos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2377440" cy="237744"/>
          </a:xfrm>
          <a:prstGeom prst="rect">
            <a:avLst/>
          </a:prstGeom>
          <a:solidFill>
            <a:srgbClr val="F1FF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70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— MCM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1508760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508760"/>
            <a:ext cx="64008" cy="8961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5819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1837944"/>
            <a:ext cx="91440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83794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pts máx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408176" y="1819656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por proximidade (haversine). Chapas mais perto = score maior.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18688" y="1508760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18688" y="1508760"/>
            <a:ext cx="64008" cy="8961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55848" y="15819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finalizadas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55848" y="1837944"/>
            <a:ext cx="91440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55848" y="183794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 pts máx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352544" y="1819656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experiência = mais pontos. Cap em 100 tarefas.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163056" y="1508760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63056" y="1508760"/>
            <a:ext cx="64008" cy="8961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0216" y="15819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Recência de atividade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300216" y="1837944"/>
            <a:ext cx="91440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0216" y="183794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pts máx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296912" y="1819656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nos últimos 30 dias: +40 pts. 90 dias: +20. 180 dias: +5.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4320" y="2496312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2496312"/>
            <a:ext cx="64008" cy="8961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25694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no sistema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11480" y="2825496"/>
            <a:ext cx="91440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" y="282549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408176" y="2807208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"Ativo" = +20 pts. "Ainda não ativo" = +5 pts.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218688" y="2496312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218688" y="2496312"/>
            <a:ext cx="64008" cy="8961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355848" y="25694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 (verificação)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355848" y="2825496"/>
            <a:ext cx="91440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55848" y="282549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pts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352544" y="2807208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 com verificação de antecedentes recebe bônus adicional.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163056" y="2496312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163056" y="2496312"/>
            <a:ext cx="64008" cy="89611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0216" y="25694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Leo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300216" y="2825496"/>
            <a:ext cx="914400" cy="173736"/>
          </a:xfrm>
          <a:prstGeom prst="rect">
            <a:avLst/>
          </a:prstGeom>
          <a:solidFill>
            <a:srgbClr val="FFF3F3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00216" y="282549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/ -40 pts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7296912" y="2807208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&gt;75% aceite: +50 pts. Recorrente: +20 pts. &lt;20% aceite: -40 pts.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74320" y="3547872"/>
            <a:ext cx="8677656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57200" y="3657600"/>
            <a:ext cx="1554480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3657600"/>
            <a:ext cx="155448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721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Bloqueados visíveis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30352" y="405993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separada com motivo de bloqueio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2176272" y="3657600"/>
            <a:ext cx="1554480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176272" y="3657600"/>
            <a:ext cx="155448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249424" y="3721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detectada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2249424" y="405993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se chapa já está em outra tarefa no mesmo dia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3895344" y="3657600"/>
            <a:ext cx="1554480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895344" y="3657600"/>
            <a:ext cx="155448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968496" y="3721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em tempo real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3968496" y="405993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em lote cancelável a qualquer momento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5614416" y="3657600"/>
            <a:ext cx="1554480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614416" y="3657600"/>
            <a:ext cx="155448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687568" y="3721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Calc. de valor integrada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687568" y="405993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MCM garantido na negociação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7333488" y="3657600"/>
            <a:ext cx="1554480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333488" y="3657600"/>
            <a:ext cx="155448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406640" y="3721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[Futuro] Negócios locais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7406640" y="405993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estabelecimentos nas redondezas</a:t>
            </a:r>
            <a:endParaRPr lang="en-US" sz="750" dirty="0"/>
          </a:p>
        </p:txBody>
      </p:sp>
      <p:sp>
        <p:nvSpPr>
          <p:cNvPr id="65" name="Shape 6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67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9D00C1EA-5985-0524-1811-5309FD9DB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Comparativo AS-IS × TO-BE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0607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impacto por etapa do processo de BID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353312"/>
            <a:ext cx="28346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154680" y="1353312"/>
            <a:ext cx="2057400" cy="3200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46120" y="1353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(atual)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57800" y="1353312"/>
            <a:ext cx="21488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13533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(MCM)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452360" y="1353312"/>
            <a:ext cx="1463040" cy="3200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1353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1673352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54680" y="1673352"/>
            <a:ext cx="2057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57800" y="1673352"/>
            <a:ext cx="21488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52360" y="1673352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1673352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tarefas e vagas abertas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27832" y="1673352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 (dashboard web)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30952" y="1673352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min (MCM local)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616952" y="1737360"/>
            <a:ext cx="1133856" cy="228600"/>
          </a:xfrm>
          <a:prstGeom prst="rect">
            <a:avLst/>
          </a:prstGeom>
          <a:solidFill>
            <a:srgbClr val="F1FFF4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16952" y="173736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74320" y="2029968"/>
            <a:ext cx="28346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54680" y="2029968"/>
            <a:ext cx="205740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257800" y="2029968"/>
            <a:ext cx="21488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52360" y="2029968"/>
            <a:ext cx="14630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2029968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preparação de dados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227832" y="2029968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 (Excel, 21 colunas)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30952" y="2029968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(chapa_registry)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616952" y="2093976"/>
            <a:ext cx="1133856" cy="228600"/>
          </a:xfrm>
          <a:prstGeom prst="rect">
            <a:avLst/>
          </a:prstGeom>
          <a:solidFill>
            <a:srgbClr val="F1FFF4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16952" y="209397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274320" y="2386584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154680" y="2386584"/>
            <a:ext cx="2057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257800" y="2386584"/>
            <a:ext cx="21488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52360" y="2386584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7472" y="2386584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Ranqueamento de candidatos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227832" y="2386584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Pulado ou manual (critério próprio)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330952" y="2386584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(score composto)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7616952" y="2450592"/>
            <a:ext cx="1133856" cy="22860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616952" y="245059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274320" y="2743200"/>
            <a:ext cx="28346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154680" y="2743200"/>
            <a:ext cx="205740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257800" y="2743200"/>
            <a:ext cx="21488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452360" y="2743200"/>
            <a:ext cx="14630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7472" y="2743200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de ocupação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3227832" y="2743200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Invisível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330952" y="2743200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em tempo real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616952" y="2807208"/>
            <a:ext cx="1133856" cy="22860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616952" y="2807208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274320" y="3099816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154680" y="3099816"/>
            <a:ext cx="2057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257800" y="3099816"/>
            <a:ext cx="21488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452360" y="3099816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47472" y="3099816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 disparo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3227832" y="3099816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min/tarefa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330952" y="3099816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 min/tarefa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616952" y="3163824"/>
            <a:ext cx="1133856" cy="228600"/>
          </a:xfrm>
          <a:prstGeom prst="rect">
            <a:avLst/>
          </a:prstGeom>
          <a:solidFill>
            <a:srgbClr val="F1FFF4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616952" y="3163824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274320" y="3456432"/>
            <a:ext cx="28346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154680" y="3456432"/>
            <a:ext cx="205740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257800" y="3456432"/>
            <a:ext cx="21488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452360" y="3456432"/>
            <a:ext cx="14630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47472" y="3456432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de disparo em tempo real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3227832" y="3456432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(Umbler)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5330952" y="3456432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(MCM)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7616952" y="3520440"/>
            <a:ext cx="1133856" cy="228600"/>
          </a:xfrm>
          <a:prstGeom prst="rect">
            <a:avLst/>
          </a:prstGeom>
          <a:solidFill>
            <a:srgbClr val="F2F1EF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616952" y="352044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cap.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274320" y="3813048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154680" y="3813048"/>
            <a:ext cx="2057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257800" y="3813048"/>
            <a:ext cx="21488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452360" y="3813048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47472" y="3813048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de valor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3227832" y="3813048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externa separada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5330952" y="3813048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integrada no MCM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7616952" y="3877056"/>
            <a:ext cx="1133856" cy="22860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616952" y="387705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274320" y="4169664"/>
            <a:ext cx="28346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154680" y="4169664"/>
            <a:ext cx="205740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257800" y="4169664"/>
            <a:ext cx="21488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452360" y="4169664"/>
            <a:ext cx="14630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47472" y="4169664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aceite/rejeição</a:t>
            </a:r>
            <a:endParaRPr lang="en-US" sz="850" dirty="0"/>
          </a:p>
        </p:txBody>
      </p:sp>
      <p:sp>
        <p:nvSpPr>
          <p:cNvPr id="82" name="Text 79"/>
          <p:cNvSpPr/>
          <p:nvPr/>
        </p:nvSpPr>
        <p:spPr>
          <a:xfrm>
            <a:off x="3227832" y="4169664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do analista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5330952" y="4169664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Leo (banco de dados)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7616952" y="4233672"/>
            <a:ext cx="1133856" cy="22860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7616952" y="42336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274320" y="4526280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154680" y="4526280"/>
            <a:ext cx="2057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257800" y="4526280"/>
            <a:ext cx="21488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7452360" y="4526280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47472" y="4526280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ativo (ligações)</a:t>
            </a:r>
            <a:endParaRPr lang="en-US" sz="850" dirty="0"/>
          </a:p>
        </p:txBody>
      </p:sp>
      <p:sp>
        <p:nvSpPr>
          <p:cNvPr id="91" name="Text 88"/>
          <p:cNvSpPr/>
          <p:nvPr/>
        </p:nvSpPr>
        <p:spPr>
          <a:xfrm>
            <a:off x="3227832" y="4526280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 — menos de 10% sucesso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5330952" y="4526280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MCM + stand-by digital</a:t>
            </a:r>
            <a:endParaRPr lang="en-US" sz="800" dirty="0"/>
          </a:p>
        </p:txBody>
      </p:sp>
      <p:sp>
        <p:nvSpPr>
          <p:cNvPr id="93" name="Shape 90"/>
          <p:cNvSpPr/>
          <p:nvPr/>
        </p:nvSpPr>
        <p:spPr>
          <a:xfrm>
            <a:off x="7616952" y="4590288"/>
            <a:ext cx="1133856" cy="22860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7616952" y="4590288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98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FD04CD70-C02F-29B1-38FF-A476F6CE7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ROI: Quanto Custa o BID Hoje?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custo real de disparos BID (janeiro — junho 2026)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85953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517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27.559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1755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realizadas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514600" y="1517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60.149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14600" y="1755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 requisitados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63440" y="1517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55.997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63440" y="1755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 entregues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12280" y="1517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93,1%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12280" y="1755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74320" y="2121408"/>
            <a:ext cx="4160520" cy="2807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121408"/>
            <a:ext cx="4160520" cy="6400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22311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Atual (AS-IS)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" y="25968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172.854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847088" y="264261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 de template BID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2916936"/>
            <a:ext cx="3886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29352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34.519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847088" y="298094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únicos contatados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1480" y="3255264"/>
            <a:ext cx="3886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3273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45,5%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847088" y="331927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aceite geral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11480" y="3593592"/>
            <a:ext cx="3886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611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12.418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847088" y="36576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 APROVADOS (&gt;75% aceite)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11480" y="3931920"/>
            <a:ext cx="3886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" y="3950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R$ 60.499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847088" y="399592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estimado em 5 meses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1480" y="4270248"/>
            <a:ext cx="3886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" y="42885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R$ 144.997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847088" y="43342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anual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11480" y="4733862"/>
            <a:ext cx="3886200" cy="137160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" y="4740959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R$ 0,35/template (Meta Marketing Brasil, 2026) • Umbler pode aplicar markup adicional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709160" y="2121407"/>
            <a:ext cx="4160520" cy="2807207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709160" y="2121408"/>
            <a:ext cx="416052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0" y="22311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com MCM (TO-BE)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846320" y="2596896"/>
            <a:ext cx="3886200" cy="1005840"/>
          </a:xfrm>
          <a:prstGeom prst="rect">
            <a:avLst/>
          </a:prstGeom>
          <a:solidFill>
            <a:srgbClr val="F1FF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46320" y="265176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R$ 36K — R$ 51K</a:t>
            </a:r>
            <a:endParaRPr lang="en-US" sz="3000" dirty="0"/>
          </a:p>
        </p:txBody>
      </p:sp>
      <p:sp>
        <p:nvSpPr>
          <p:cNvPr id="42" name="Text 39"/>
          <p:cNvSpPr/>
          <p:nvPr/>
        </p:nvSpPr>
        <p:spPr>
          <a:xfrm>
            <a:off x="4846320" y="323697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estimada por ano em templates BID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846320" y="369417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Redução conservadora de disparos: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223760" y="3694176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= − 43.213 templates/ano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846320" y="39502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Redução otimista de disparos: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7223760" y="3950208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= − 60.499 templates/ano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846320" y="42062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 por chapa entregue hoje: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223760" y="4206240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R$ 1,08 (R$ 60.499 ÷ 55.997)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846320" y="44622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12.418 APROVADOS priorizados: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7223760" y="4462272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+75% aceite → menos desperdício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846320" y="4729426"/>
            <a:ext cx="3886200" cy="137160"/>
          </a:xfrm>
          <a:prstGeom prst="rect">
            <a:avLst/>
          </a:prstGeom>
          <a:solidFill>
            <a:srgbClr val="F1FFF4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846320" y="4727448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com otimização de disparos — não inclui ganhos de tempo de analista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55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B04EB925-79B8-6484-5174-EE98DBCC1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987552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13232" y="2633472"/>
            <a:ext cx="512064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2788920"/>
            <a:ext cx="182880" cy="18288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27614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BID exige 2 a 4 horas diárias de trabalho ativo, com alta dependência de conhecimento tácito individual.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13232" y="3209544"/>
            <a:ext cx="182880" cy="18288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9264" y="3182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MCM reduz esse tempo para 40 min a 1,5h, com ranqueamento automático e histórico centralizado.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13232" y="3630168"/>
            <a:ext cx="182880" cy="18288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36027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 disparos: economia estimada de R$ 36K a R$ 51K por ano em templates WhatsApp.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13232" y="4050792"/>
            <a:ext cx="182880" cy="18288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9264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calculadora e as </a:t>
            </a:r>
            <a:r>
              <a:rPr lang="en-US" sz="9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</a:t>
            </a: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BID (</a:t>
            </a:r>
            <a:r>
              <a:rPr lang="en-US" sz="9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Leo) transformam a negociação de tácita para orientada a dados.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13232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  •  MCM — Meu Chapa Manager</a:t>
            </a:r>
            <a:endParaRPr lang="en-US" sz="900" dirty="0"/>
          </a:p>
        </p:txBody>
      </p:sp>
      <p:pic>
        <p:nvPicPr>
          <p:cNvPr id="34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4F83C41E-4E15-2CD3-283B-A7A9EEC10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4018"/>
            <a:ext cx="1368052" cy="12167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2110</Words>
  <Application>Microsoft Office PowerPoint</Application>
  <PresentationFormat>Apresentação na tela (16:9)</PresentationFormat>
  <Paragraphs>385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Mapeamento de Processo BID — MCM</dc:title>
  <dc:subject>PptxGenJS Presentation</dc:subject>
  <dc:creator>PptxGenJS</dc:creator>
  <cp:lastModifiedBy>W Design</cp:lastModifiedBy>
  <cp:revision>4</cp:revision>
  <dcterms:created xsi:type="dcterms:W3CDTF">2026-06-05T01:53:19Z</dcterms:created>
  <dcterms:modified xsi:type="dcterms:W3CDTF">2026-06-05T11:17:31Z</dcterms:modified>
</cp:coreProperties>
</file>