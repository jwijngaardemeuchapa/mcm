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16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8346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13232" y="1170432"/>
            <a:ext cx="2194560" cy="27432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1170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 ×  TO-BE  |  BID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1572768"/>
            <a:ext cx="6583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Mapeamento de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Processo BID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713232" y="361188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 de Chapas — Fluxo Operacional do Analista de BID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13232" y="4133088"/>
            <a:ext cx="3108960" cy="34747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41330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 — Meu Chapa Manager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13232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2026</a:t>
            </a:r>
            <a:endParaRPr lang="en-US" sz="900" dirty="0"/>
          </a:p>
        </p:txBody>
      </p:sp>
      <p:pic>
        <p:nvPicPr>
          <p:cNvPr id="22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D78844D0-6BD9-2F9E-73EF-B2236AD3B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74018"/>
            <a:ext cx="976406" cy="8683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pic>
        <p:nvPicPr>
          <p:cNvPr id="3" name="Image 0" descr="C:\Users\W Design\task-flow-hub\src\assets\logo-meucha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74019"/>
            <a:ext cx="605961" cy="5389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é o processo de BID?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 ativa de chapas para preencher vagas em tarefas operacionais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481328"/>
            <a:ext cx="5394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481328"/>
            <a:ext cx="64008" cy="141732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554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BID?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847088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é o processo de captação ativa de chapas (ajudantes) para preencher vagas em tarefas que ainda estão em aberto. Diferente do FUP — que confirma a presença de quem já está alocado — o BID recruta novos ajudantes do zero, exigindo busca, filtragem, disparo de campanha, negociação e acompanhamento de resposta em tempo real.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897880" y="1481328"/>
            <a:ext cx="2971800" cy="1417320"/>
          </a:xfrm>
          <a:prstGeom prst="rect">
            <a:avLst/>
          </a:prstGeom>
          <a:solidFill>
            <a:srgbClr val="FFF0E6"/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97880" y="1481328"/>
            <a:ext cx="64008" cy="141732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155448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deste documento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53328" y="1874520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Documentar o processo atual (AS-IS)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053328" y="2103120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Evidenciar gargalos e ineficiências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53328" y="2331720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Mapear como o MCM resolve cada etapa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053328" y="2560320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Estimar ganhos de tempo e custo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74320" y="3063240"/>
            <a:ext cx="8595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BID e FUP se relacionam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493008"/>
            <a:ext cx="64008" cy="9692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34930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— Captação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94360" y="376732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 chapas para vagas em aberto. Exige busca ativa, disparo de campanha e negociação.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291840" y="3493008"/>
            <a:ext cx="64008" cy="969264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29000" y="34930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FUP — Follow-Up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429000" y="376732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a presença de chapas já alocados próximos ao início da tarefa.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126480" y="3493008"/>
            <a:ext cx="64008" cy="9692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63640" y="34930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263640" y="376732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o BID confirmar o chapa, o FUP assume o acompanhamento até a validação no local.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59436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Processo</a:t>
            </a:r>
            <a:endParaRPr lang="en-US" sz="7000" dirty="0"/>
          </a:p>
          <a:p>
            <a:pPr marL="0" indent="0">
              <a:buNone/>
            </a:pPr>
            <a:r>
              <a:rPr lang="en-US" sz="7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Atual</a:t>
            </a:r>
            <a:endParaRPr lang="en-US" sz="7000" dirty="0"/>
          </a:p>
        </p:txBody>
      </p:sp>
      <p:sp>
        <p:nvSpPr>
          <p:cNvPr id="5" name="Shape 3"/>
          <p:cNvSpPr/>
          <p:nvPr/>
        </p:nvSpPr>
        <p:spPr>
          <a:xfrm>
            <a:off x="713232" y="3291840"/>
            <a:ext cx="1371600" cy="640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3429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AS-IS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39319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BID é feito hoje — sem o MCM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Fluxo Geral — Processo Atual de BID (AS-IS)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macro do dia operacional do analista de BID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30352" y="1865376"/>
            <a:ext cx="7991856" cy="64008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600200"/>
            <a:ext cx="603504" cy="603504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28600" y="2450592"/>
            <a:ext cx="11887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" y="2450592"/>
            <a:ext cx="118872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3464" y="2532888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83464" y="3273552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MeuChapa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01752" y="3803904"/>
            <a:ext cx="1042416" cy="27432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1752" y="380390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5–10 min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1737360" y="1600200"/>
            <a:ext cx="603504" cy="603504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737360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463040" y="2450592"/>
            <a:ext cx="11887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463040" y="2450592"/>
            <a:ext cx="118872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17904" y="2532888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Chapa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517904" y="3273552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+ Excel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1536192" y="3803904"/>
            <a:ext cx="1042416" cy="27432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536192" y="380390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10–20 min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971800" y="1600200"/>
            <a:ext cx="603504" cy="603504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71800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2697480" y="2450592"/>
            <a:ext cx="11887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697480" y="2450592"/>
            <a:ext cx="118872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52344" y="2532888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Umbler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2752344" y="3273552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campanha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770632" y="3803904"/>
            <a:ext cx="1042416" cy="27432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770632" y="380390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10–20 min/tarefa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4206240" y="1600200"/>
            <a:ext cx="603504" cy="603504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06240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931920" y="2450592"/>
            <a:ext cx="11887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3931920" y="2450592"/>
            <a:ext cx="118872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986784" y="2532888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3986784" y="3273552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chatbot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005072" y="3803904"/>
            <a:ext cx="1042416" cy="27432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005072" y="380390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30–60 min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5440680" y="1600200"/>
            <a:ext cx="603504" cy="603504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440680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5166360" y="2450592"/>
            <a:ext cx="11887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5166360" y="2450592"/>
            <a:ext cx="118872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221224" y="2532888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Confirmar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5221224" y="3273552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+ WhatsApp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5239512" y="3803904"/>
            <a:ext cx="1042416" cy="27432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239512" y="380390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15–30 min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6675120" y="1600200"/>
            <a:ext cx="603504" cy="603504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675120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6400800" y="2450592"/>
            <a:ext cx="11887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6400800" y="2450592"/>
            <a:ext cx="118872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55664" y="2532888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Stand-by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Ligações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6455664" y="3273552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 + Google Maps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6473952" y="3803904"/>
            <a:ext cx="1042416" cy="27432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473952" y="380390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20–40 min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7909560" y="1600200"/>
            <a:ext cx="603504" cy="603504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909560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7635240" y="2450592"/>
            <a:ext cx="11887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7635240" y="2450592"/>
            <a:ext cx="118872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690104" y="2532888"/>
            <a:ext cx="1078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FUP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7690104" y="3273552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Repasse ao analista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7708392" y="3803904"/>
            <a:ext cx="1042416" cy="27432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708392" y="380390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Contínuo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274320" y="4700016"/>
            <a:ext cx="85953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ESTIMADO  •  2 a 4 horas de BID ativo por dia  •  múltiplas tarefas e campanhas em simultâneo</a:t>
            </a:r>
            <a:endParaRPr lang="en-US" sz="1050" dirty="0"/>
          </a:p>
        </p:txBody>
      </p:sp>
      <p:pic>
        <p:nvPicPr>
          <p:cNvPr id="65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05C30D40-FEFD-7781-E928-9608446FC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74019"/>
            <a:ext cx="605961" cy="5389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Etapas 1–3: Verificação, Busca e Preparação de Dados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56587" y="11658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dashboard ao CSV pronto para disparo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170432"/>
            <a:ext cx="1097280" cy="237744"/>
          </a:xfrm>
          <a:prstGeom prst="rect">
            <a:avLst/>
          </a:prstGeom>
          <a:solidFill>
            <a:srgbClr val="FFF0E6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1704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74320" y="1481328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481328"/>
            <a:ext cx="54864" cy="6400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93192" y="1636776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3192" y="1636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1520" y="15544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dashboard MeuChapa online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1520" y="1828800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182880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MeuChapa web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093976" y="180136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tarefas em aberto — linhas que precisam ser preenchidas com chapas.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74320" y="2185416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2185416"/>
            <a:ext cx="54864" cy="6400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93192" y="2340864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93192" y="2340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31520" y="225856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Baixar planilha "Busca Chapa"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31520" y="2532888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2532888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MeuChapa export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2093976" y="2505456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por distância. Retorna até 200 contatos com 21 colunas.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74320" y="2889504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74320" y="2889504"/>
            <a:ext cx="54864" cy="6400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93192" y="3044952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93192" y="3044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31520" y="29626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planilha no Excel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3236976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1520" y="3236976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2093976" y="3209544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19 colunas desnecessárias. Manter apenas Nome e Telefone.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274320" y="3593592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274320" y="3593592"/>
            <a:ext cx="54864" cy="64008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93192" y="3749040"/>
            <a:ext cx="256032" cy="256032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93192" y="3749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31520" y="366674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(Deveria) Ranquear manualmente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731520" y="3941064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31520" y="3941064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próprio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2093976" y="3913632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correria, o ranqueamento é pulado e dispara-se para todos os 200 contatos.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274320" y="4297680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274320" y="4297680"/>
            <a:ext cx="54864" cy="6400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93192" y="4453128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93192" y="4453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31520" y="437083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como CSV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731520" y="4645152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31520" y="4645152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— Salvar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2093976" y="4617720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arquivo CSV para upload na Umbler. Repetir para cada tarefa em aberto.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5806440" y="1481328"/>
            <a:ext cx="3017520" cy="1554480"/>
          </a:xfrm>
          <a:prstGeom prst="rect">
            <a:avLst/>
          </a:prstGeom>
          <a:solidFill>
            <a:srgbClr val="FFF3F3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806440" y="1481328"/>
            <a:ext cx="54864" cy="155448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916168" y="15727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5916168" y="1801368"/>
            <a:ext cx="28346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planilha Busca Chapa tem 21 colunas. A cada disparo o analista precisa abrir o Excel, apagar manualmente as 19 colunas desnecessárias e exportar um novo CSV. Processo repetido para cada tarefa do dia.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5806440" y="3154680"/>
            <a:ext cx="3017520" cy="256032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806440" y="31546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10–20 min por tarefa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5806440" y="3547872"/>
            <a:ext cx="301752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Text 52"/>
          <p:cNvSpPr/>
          <p:nvPr/>
        </p:nvSpPr>
        <p:spPr>
          <a:xfrm>
            <a:off x="5943600" y="36118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da planilha Busca Chapa: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7882128" y="3621024"/>
            <a:ext cx="777240" cy="201168"/>
          </a:xfrm>
          <a:prstGeom prst="rect">
            <a:avLst/>
          </a:prstGeom>
          <a:solidFill>
            <a:srgbClr val="FFF3F3"/>
          </a:solidFill>
          <a:ln w="6350">
            <a:solidFill>
              <a:srgbClr val="FFCDD2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882128" y="362102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colunas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5943600" y="3895344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 • Long • Cidade • Estado • ID Usuário • Telefone • Milhas • Cód. CEP • Distância • Últ. Nome • Apelido • 1º Nome • Referência • Complemento • Endereço • App Móvel • Tarefas • Verificação 1 • Verificação 2 • Status de Contato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60" name="Image 1" descr="C:\Users\W Design\task-flow-hub\src\assets\logo-meucha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983480"/>
            <a:ext cx="1143000" cy="402336"/>
          </a:xfrm>
          <a:prstGeom prst="rect">
            <a:avLst/>
          </a:prstGeom>
        </p:spPr>
      </p:pic>
      <p:pic>
        <p:nvPicPr>
          <p:cNvPr id="61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E0421E17-B624-F6E9-ACAF-F5C9A361C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74019"/>
            <a:ext cx="605961" cy="5389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27481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Etapa 4: Disparo de Campanha BID na Umbler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391116" y="11430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campanha por tarefa — processo inteiramente manual e repetitivo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401056" y="804672"/>
            <a:ext cx="1097280" cy="237744"/>
          </a:xfrm>
          <a:prstGeom prst="rect">
            <a:avLst/>
          </a:prstGeom>
          <a:solidFill>
            <a:srgbClr val="FFF0E6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01056" y="8046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74320" y="1115568"/>
            <a:ext cx="5303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115568"/>
            <a:ext cx="54864" cy="58521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93192" y="1271016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3192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1520" y="11887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Umbler Talk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1520" y="1463040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146304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Umbler Talk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093976" y="143560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a plataforma de disparo de campanhas WhatsApp.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74320" y="1755648"/>
            <a:ext cx="5303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1755648"/>
            <a:ext cx="54864" cy="58521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93192" y="1911096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93192" y="1911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31520" y="182880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nova campanha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31520" y="2103120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210312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Umbler Talk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2093976" y="207568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campanha separada para cada tarefa (empresa + horário + local).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74320" y="2395728"/>
            <a:ext cx="5303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74320" y="2395728"/>
            <a:ext cx="54864" cy="58521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93192" y="2551176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93192" y="2551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31520" y="24688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dados da tarefa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2743200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1520" y="274320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2093976" y="271576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 trabalho, atividades, valor da diária — tudo digitado manualmente.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274320" y="3035808"/>
            <a:ext cx="5303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274320" y="3035808"/>
            <a:ext cx="54864" cy="58521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93192" y="3191256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93192" y="3191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31520" y="31089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CSV com os contatos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731520" y="3383280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31520" y="338328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CSV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2093976" y="335584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 arquivo gerado no Excel. Até 200 contatos por campanha.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274320" y="3675888"/>
            <a:ext cx="5303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274320" y="3675888"/>
            <a:ext cx="54864" cy="58521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93192" y="3831336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93192" y="3831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31520" y="37490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Disparar e monitorar chatbot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731520" y="4023360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31520" y="402336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Umbler chatbot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2093976" y="399592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Sim: chatbot sugere aceite no app (fluxo automático). Não: pergunta o motivo.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274320" y="4315968"/>
            <a:ext cx="5303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274320" y="4315968"/>
            <a:ext cx="54864" cy="58521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93192" y="4471416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93192" y="4471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31520" y="43891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Aguardar respostas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731520" y="4663440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31520" y="466344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Umbler / WhatsApp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2093976" y="463600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possível pausar o disparo em andamento.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5806440" y="1115568"/>
            <a:ext cx="3017520" cy="1737360"/>
          </a:xfrm>
          <a:prstGeom prst="rect">
            <a:avLst/>
          </a:prstGeom>
          <a:solidFill>
            <a:srgbClr val="FFF3F3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806440" y="1115568"/>
            <a:ext cx="54864" cy="173736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916168" y="120700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5916168" y="1435608"/>
            <a:ext cx="2834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é inteiramente repetitivo: uma campanha completa do zero para cada tarefa. Com várias tarefas abertas simultaneamente, o analista pode criar e gerir 5 a 15 campanhas por dia — sem poder pausar nenhuma delas em tempo real.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5806440" y="2971800"/>
            <a:ext cx="3017520" cy="256032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806440" y="2971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10–20 min por tarefa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5806440" y="3346704"/>
            <a:ext cx="3017520" cy="9966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3" name="Text 60"/>
          <p:cNvSpPr/>
          <p:nvPr/>
        </p:nvSpPr>
        <p:spPr>
          <a:xfrm>
            <a:off x="5943600" y="34107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do chatbot BID: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5943600" y="3685032"/>
            <a:ext cx="2743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Disparo → Pergunta de interesse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5943600" y="3840480"/>
            <a:ext cx="2743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 → Sugere aceite no app</a:t>
            </a:r>
            <a:endParaRPr lang="en-US" sz="850" dirty="0"/>
          </a:p>
        </p:txBody>
      </p:sp>
      <p:sp>
        <p:nvSpPr>
          <p:cNvPr id="66" name="Text 63"/>
          <p:cNvSpPr/>
          <p:nvPr/>
        </p:nvSpPr>
        <p:spPr>
          <a:xfrm>
            <a:off x="5943600" y="3995928"/>
            <a:ext cx="2743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NÃO → Pergunta motivo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5943600" y="4151376"/>
            <a:ext cx="2743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RESPOSTA → Analista age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0" y="4978908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70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3948250A-B20E-7306-A012-A08D13627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74019"/>
            <a:ext cx="605961" cy="5389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Etapas 5–6: Monitoramento, Negociação e Handoff para FUP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etapa mais crítica e mais dependente de conhecimento tácito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170432"/>
            <a:ext cx="1097280" cy="237744"/>
          </a:xfrm>
          <a:prstGeom prst="rect">
            <a:avLst/>
          </a:prstGeom>
          <a:solidFill>
            <a:srgbClr val="FFF0E6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1704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74320" y="1481328"/>
            <a:ext cx="530352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481328"/>
            <a:ext cx="54864" cy="63093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93192" y="1636776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3192" y="1636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1520" y="15544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respostas em tempo real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1520" y="1828800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182880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Umbler / WhatsApp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093976" y="180136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quem respondeu "Sim", quem negou e quem não respondeu.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74320" y="2167128"/>
            <a:ext cx="530352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2167128"/>
            <a:ext cx="54864" cy="630936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93192" y="2322576"/>
            <a:ext cx="256032" cy="256032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93192" y="2322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31520" y="22402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chapas frequentes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31520" y="2514600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251460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do analista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2093976" y="248716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manualmente nomes conhecidos para priorizar o contato.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74320" y="2852928"/>
            <a:ext cx="530352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74320" y="2852928"/>
            <a:ext cx="54864" cy="63093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93192" y="3008376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93192" y="3008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31520" y="29260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Negociar valor da diária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3200400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1520" y="320040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cálculo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2093976" y="317296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planilha externa para garantir o take rate da MeuChapa.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274320" y="3538728"/>
            <a:ext cx="530352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274320" y="3538728"/>
            <a:ext cx="54864" cy="63093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93192" y="3694176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93192" y="3694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31520" y="36118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tempo de chegada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731520" y="3886200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31520" y="388620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direto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2093976" y="385876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com o chapa em quanto tempo consegue chegar ao local.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274320" y="4224528"/>
            <a:ext cx="530352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274320" y="4224528"/>
            <a:ext cx="54864" cy="63093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93192" y="4379976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93192" y="4379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31520" y="42976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e repassar ao FUP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731520" y="4572000"/>
            <a:ext cx="128016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31520" y="457200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MeuChapa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2093976" y="454456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ao analista de FUP os chapas confirmados para acompanhamento.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5806440" y="1481328"/>
            <a:ext cx="3017520" cy="1828800"/>
          </a:xfrm>
          <a:prstGeom prst="rect">
            <a:avLst/>
          </a:prstGeom>
          <a:solidFill>
            <a:srgbClr val="FFF3F3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806440" y="1481328"/>
            <a:ext cx="54864" cy="182880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916168" y="15727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5916168" y="1801368"/>
            <a:ext cx="2834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qualidade da captação depende diretamente da memória individual do analista: quem são os frequentes, quem costuma aceitar, qual o perfil de cada chapa. Esse conhecimento não está documentado e não é compartilhado.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5806440" y="3438144"/>
            <a:ext cx="3017520" cy="256032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806440" y="34381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30–60 min por tarefa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5806440" y="3813048"/>
            <a:ext cx="3017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Text 52"/>
          <p:cNvSpPr/>
          <p:nvPr/>
        </p:nvSpPr>
        <p:spPr>
          <a:xfrm>
            <a:off x="5943600" y="38770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tácito exigido: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943600" y="4142232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Memorizar chapas frequentes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943600" y="4279392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Negociar com persuão individual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943600" y="4416552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Estimar taxa de aceite por chapa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5943600" y="4553712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Decidir quando insistir ou desistir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61" name="Image 1" descr="C:\Users\W Design\task-flow-hub\src\assets\logo-meucha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983480"/>
            <a:ext cx="1143000" cy="402336"/>
          </a:xfrm>
          <a:prstGeom prst="rect">
            <a:avLst/>
          </a:prstGeom>
        </p:spPr>
      </p:pic>
      <p:pic>
        <p:nvPicPr>
          <p:cNvPr id="62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CCB5AC15-EF7D-1D93-5502-7CF286ADA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74019"/>
            <a:ext cx="605961" cy="5389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Contingências: Stand-by, Ligações 3C e Tarefas Remotas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Situações que exigem esforço adicional significativo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170432"/>
            <a:ext cx="1097280" cy="237744"/>
          </a:xfrm>
          <a:prstGeom prst="rect">
            <a:avLst/>
          </a:prstGeom>
          <a:solidFill>
            <a:srgbClr val="FFF0E6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1704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74320" y="1481328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481328"/>
            <a:ext cx="283464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157276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84048" y="1984248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Stand-by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23957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Tarefa já completa mas respostas ainda chegam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11480" y="26700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Analista deve manter chapas em stand-by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11480" y="29443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FUP sinaliza desistências em tempo real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11480" y="321868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BID aciona o stand-by para substituição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11480" y="34930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Coordenação manual entre dois analistas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3858768"/>
            <a:ext cx="2560320" cy="228600"/>
          </a:xfrm>
          <a:prstGeom prst="rect">
            <a:avLst/>
          </a:prstGeom>
          <a:solidFill>
            <a:srgbClr val="FFF0E6"/>
          </a:solidFill>
          <a:ln w="6350">
            <a:solidFill>
              <a:srgbClr val="FF66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38587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Contínuo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11480" y="4160520"/>
            <a:ext cx="2560320" cy="548640"/>
          </a:xfrm>
          <a:prstGeom prst="rect">
            <a:avLst/>
          </a:prstGeom>
          <a:solidFill>
            <a:srgbClr val="FFF3F3"/>
          </a:solidFill>
          <a:ln w="6350">
            <a:solidFill>
              <a:srgbClr val="FFCDD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206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exclusivamente via WhatsApp, sem sistema centralizado de stand-by.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3246120" y="1481328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46120" y="1481328"/>
            <a:ext cx="2834640" cy="54864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55848" y="157276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3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3355848" y="1984248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Ligações via 3C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383280" y="23957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Importar lista do Busca Chapa para 3C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383280" y="26700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Ligar para chapas sem resposta ao disparo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383280" y="29443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Número de call center: baixa taxa de atendimento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383280" y="321868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Taxa de sucesso de contato: menos de 10%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383280" y="34930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Alto volume de tentativas com baixo retorno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383280" y="3858768"/>
            <a:ext cx="2560320" cy="228600"/>
          </a:xfrm>
          <a:prstGeom prst="rect">
            <a:avLst/>
          </a:prstGeom>
          <a:solidFill>
            <a:srgbClr val="FFF0E6"/>
          </a:solidFill>
          <a:ln w="6350">
            <a:solidFill>
              <a:srgbClr val="FF66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383280" y="38587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20–40 min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3383280" y="4160520"/>
            <a:ext cx="2560320" cy="548640"/>
          </a:xfrm>
          <a:prstGeom prst="rect">
            <a:avLst/>
          </a:prstGeom>
          <a:solidFill>
            <a:srgbClr val="FFF3F3"/>
          </a:solidFill>
          <a:ln w="6350">
            <a:solidFill>
              <a:srgbClr val="FFCDD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429000" y="4206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call center gera desconfiança. Maioria não atende ou não reconhece a chamada.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217920" y="1481328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217920" y="1481328"/>
            <a:ext cx="2834640" cy="54864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27648" y="157276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6327648" y="1984248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Remotas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355080" y="23957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Nenhum chapa disponível na base pelo Busca Chapa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55080" y="26700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Abrir Google Maps e localizar a região da tarefa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6355080" y="29443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Identificar negócios locais nas redondezas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6355080" y="321868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Ligar manualmente, um a um, por cada negócio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6355080" y="34930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Perguntar se conhecem trabalhadores disponíveis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6355080" y="3858768"/>
            <a:ext cx="2560320" cy="228600"/>
          </a:xfrm>
          <a:prstGeom prst="rect">
            <a:avLst/>
          </a:prstGeom>
          <a:solidFill>
            <a:srgbClr val="FFF0E6"/>
          </a:solidFill>
          <a:ln w="6350">
            <a:solidFill>
              <a:srgbClr val="FF660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355080" y="38587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15–30 min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6355080" y="4160520"/>
            <a:ext cx="2560320" cy="548640"/>
          </a:xfrm>
          <a:prstGeom prst="rect">
            <a:avLst/>
          </a:prstGeom>
          <a:solidFill>
            <a:srgbClr val="FFF3F3"/>
          </a:solidFill>
          <a:ln w="6350">
            <a:solidFill>
              <a:srgbClr val="FFCDD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00800" y="4206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completamente manual. Depende de prospecção visual no mapa sem nenhuma automação.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48" name="Image 1" descr="C:\Users\W Design\task-flow-hub\src\assets\logo-meucha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983480"/>
            <a:ext cx="1143000" cy="402336"/>
          </a:xfrm>
          <a:prstGeom prst="rect">
            <a:avLst/>
          </a:prstGeom>
        </p:spPr>
      </p:pic>
      <p:pic>
        <p:nvPicPr>
          <p:cNvPr id="49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0C15F633-304E-E02E-98CB-AD6C9A453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74019"/>
            <a:ext cx="605961" cy="5389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113276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Principais Gargalos do Processo Atual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74320" y="515339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pontos críticos que impactam a eficiência e a escalabilidade do BID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798803"/>
            <a:ext cx="2743200" cy="129844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798803"/>
            <a:ext cx="274320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890243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84048" y="1274291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Colunas Desnecessárias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84048" y="1566899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Busca Chapa exige edição manual a cada disparo.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74320" y="2188691"/>
            <a:ext cx="2743200" cy="129844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2188691"/>
            <a:ext cx="274320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2280131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84048" y="2664179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 por Tarefa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84048" y="2956787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tarefa exige uma campanha Umbler completa do zero.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74320" y="3578579"/>
            <a:ext cx="2743200" cy="129844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3578579"/>
            <a:ext cx="274320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3670019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84048" y="4054067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Descentralizado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84048" y="4346675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Aceites e rejeições anteriores de BID não são consultáveis.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108960" y="798803"/>
            <a:ext cx="2743200" cy="129844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108960" y="798803"/>
            <a:ext cx="274320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18688" y="890243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3218688" y="1274291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Ranqueamento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218688" y="1566899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correria, dispara-se para todos os 200 sem critério de prioridade.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08960" y="2188691"/>
            <a:ext cx="2743200" cy="129844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108960" y="2188691"/>
            <a:ext cx="274320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18688" y="2280131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218688" y="2664179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Externa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3218688" y="2956787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cálculo de valor é separada, fora do fluxo de trabalho.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3108960" y="3578579"/>
            <a:ext cx="2743200" cy="129844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108960" y="3578579"/>
            <a:ext cx="274320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18688" y="3670019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3218688" y="4054067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 com Menos de 10%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18688" y="4346675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call center tem taxa de atendimento menor que 10%.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5943600" y="798803"/>
            <a:ext cx="2743200" cy="129844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943600" y="798803"/>
            <a:ext cx="274320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053328" y="890243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6053328" y="1274291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Visib. de Ocupação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6053328" y="1566899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Chapas já alocados em outras tarefas no mesmo dia são invisíveis.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5943600" y="2188691"/>
            <a:ext cx="2743200" cy="129844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943600" y="2188691"/>
            <a:ext cx="274320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053328" y="2280131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6053328" y="2664179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Pausa em Tempo Real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6053328" y="2956787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Umbler não permite pausar ou cancelar um disparo em andamento.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5943600" y="3578579"/>
            <a:ext cx="2743200" cy="129844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943600" y="3578579"/>
            <a:ext cx="274320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053328" y="3670019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800" dirty="0"/>
          </a:p>
        </p:txBody>
      </p:sp>
      <p:sp>
        <p:nvSpPr>
          <p:cNvPr id="49" name="Text 46"/>
          <p:cNvSpPr/>
          <p:nvPr/>
        </p:nvSpPr>
        <p:spPr>
          <a:xfrm>
            <a:off x="6053328" y="4054067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Tácito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6053328" y="4346675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da captação depende da memória individual do analista.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45720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Processo</a:t>
            </a:r>
            <a:endParaRPr lang="en-US" sz="6000" dirty="0"/>
          </a:p>
          <a:p>
            <a:pPr marL="0" indent="0">
              <a:buNone/>
            </a:pPr>
            <a:r>
              <a:rPr lang="en-US" sz="6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Proposto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13232" y="3429000"/>
            <a:ext cx="1371600" cy="640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TO-BE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13232" y="4114800"/>
            <a:ext cx="347472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4114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MCM — Meu Chapa Manager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Fluxo Geral — BID com MCM (TO-BE)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MCM transforma cada etapa do processo de captação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1901952"/>
            <a:ext cx="7900416" cy="64008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600200"/>
            <a:ext cx="676656" cy="676656"/>
          </a:xfrm>
          <a:prstGeom prst="ellipse">
            <a:avLst/>
          </a:prstGeom>
          <a:solidFill>
            <a:srgbClr val="1A1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6002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28600" y="2487168"/>
            <a:ext cx="13533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" y="2487168"/>
            <a:ext cx="1353312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2608" y="2578608"/>
            <a:ext cx="1225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Local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92608" y="3328416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 — tarefas + vagas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0040" y="3840480"/>
            <a:ext cx="1170432" cy="274320"/>
          </a:xfrm>
          <a:prstGeom prst="rect">
            <a:avLst/>
          </a:prstGeom>
          <a:solidFill>
            <a:srgbClr val="F1FFF4"/>
          </a:solidFill>
          <a:ln w="9525">
            <a:solidFill>
              <a:srgbClr val="C8E6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3840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1–2 min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993392" y="1600200"/>
            <a:ext cx="676656" cy="676656"/>
          </a:xfrm>
          <a:prstGeom prst="ellipse">
            <a:avLst/>
          </a:prstGeom>
          <a:solidFill>
            <a:srgbClr val="1A1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993392" y="16002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673352" y="2487168"/>
            <a:ext cx="13533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673352" y="2487168"/>
            <a:ext cx="1353312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737360" y="2578608"/>
            <a:ext cx="1225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Ranqueamento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737360" y="3328416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160K chapas + score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1764792" y="3840480"/>
            <a:ext cx="1170432" cy="274320"/>
          </a:xfrm>
          <a:prstGeom prst="rect">
            <a:avLst/>
          </a:prstGeom>
          <a:solidFill>
            <a:srgbClr val="F1FFF4"/>
          </a:solidFill>
          <a:ln w="9525">
            <a:solidFill>
              <a:srgbClr val="C8E6C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764792" y="3840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Automático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3438144" y="1600200"/>
            <a:ext cx="676656" cy="676656"/>
          </a:xfrm>
          <a:prstGeom prst="ellipse">
            <a:avLst/>
          </a:prstGeom>
          <a:solidFill>
            <a:srgbClr val="1A1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38144" y="16002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118104" y="2487168"/>
            <a:ext cx="13533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18104" y="2487168"/>
            <a:ext cx="1353312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182112" y="2578608"/>
            <a:ext cx="1225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Disparar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182112" y="3328416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+ template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09544" y="3840480"/>
            <a:ext cx="1170432" cy="274320"/>
          </a:xfrm>
          <a:prstGeom prst="rect">
            <a:avLst/>
          </a:prstGeom>
          <a:solidFill>
            <a:srgbClr val="F1FFF4"/>
          </a:solidFill>
          <a:ln w="9525">
            <a:solidFill>
              <a:srgbClr val="C8E6C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09544" y="3840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3–8 min/tarefa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882896" y="1600200"/>
            <a:ext cx="676656" cy="676656"/>
          </a:xfrm>
          <a:prstGeom prst="ellipse">
            <a:avLst/>
          </a:prstGeom>
          <a:solidFill>
            <a:srgbClr val="1A1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82896" y="16002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4562856" y="2487168"/>
            <a:ext cx="13533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562856" y="2487168"/>
            <a:ext cx="1353312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26864" y="2578608"/>
            <a:ext cx="1225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626864" y="3328416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por chapa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654296" y="3840480"/>
            <a:ext cx="1170432" cy="274320"/>
          </a:xfrm>
          <a:prstGeom prst="rect">
            <a:avLst/>
          </a:prstGeom>
          <a:solidFill>
            <a:srgbClr val="F1FFF4"/>
          </a:solidFill>
          <a:ln w="9525">
            <a:solidFill>
              <a:srgbClr val="C8E6C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654296" y="3840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Automático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6327648" y="1600200"/>
            <a:ext cx="676656" cy="676656"/>
          </a:xfrm>
          <a:prstGeom prst="ellipse">
            <a:avLst/>
          </a:prstGeom>
          <a:solidFill>
            <a:srgbClr val="1A1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327648" y="16002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007608" y="2487168"/>
            <a:ext cx="13533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007608" y="2487168"/>
            <a:ext cx="1353312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071616" y="2578608"/>
            <a:ext cx="1225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071616" y="3328416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+ histórico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099048" y="3840480"/>
            <a:ext cx="1170432" cy="274320"/>
          </a:xfrm>
          <a:prstGeom prst="rect">
            <a:avLst/>
          </a:prstGeom>
          <a:solidFill>
            <a:srgbClr val="F1FFF4"/>
          </a:solidFill>
          <a:ln w="9525">
            <a:solidFill>
              <a:srgbClr val="C8E6C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099048" y="3840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5–15 min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7772400" y="1600200"/>
            <a:ext cx="676656" cy="676656"/>
          </a:xfrm>
          <a:prstGeom prst="ellipse">
            <a:avLst/>
          </a:prstGeom>
          <a:solidFill>
            <a:srgbClr val="1A1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772400" y="16002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7452360" y="2487168"/>
            <a:ext cx="13533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7452360" y="2487168"/>
            <a:ext cx="1353312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516368" y="2578608"/>
            <a:ext cx="1225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7516368" y="3328416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FUP assume no MCM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543800" y="3840480"/>
            <a:ext cx="1170432" cy="274320"/>
          </a:xfrm>
          <a:prstGeom prst="rect">
            <a:avLst/>
          </a:prstGeom>
          <a:solidFill>
            <a:srgbClr val="F1FFF4"/>
          </a:solidFill>
          <a:ln w="9525">
            <a:solidFill>
              <a:srgbClr val="C8E6C9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543800" y="3840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Instantâneo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274320" y="4700016"/>
            <a:ext cx="85953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ESTIMADO  •  40 min a 1,5 hora de BID ativo  •  ranqueamento, histórico e controle centralizados no MCM</a:t>
            </a:r>
            <a:endParaRPr lang="en-US" sz="1050" dirty="0"/>
          </a:p>
        </p:txBody>
      </p:sp>
      <p:pic>
        <p:nvPicPr>
          <p:cNvPr id="57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0660C987-F2D6-C13E-1970-26149797B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74019"/>
            <a:ext cx="605961" cy="5389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Diferencial MCM: Ranqueamento Automático de Chapas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265176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MCM substitui o critério manual e a memória do analista por dados objetivos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170432"/>
            <a:ext cx="2377440" cy="237744"/>
          </a:xfrm>
          <a:prstGeom prst="rect">
            <a:avLst/>
          </a:prstGeom>
          <a:solidFill>
            <a:srgbClr val="F1FFF4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1704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— MCM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74320" y="1508760"/>
            <a:ext cx="2788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508760"/>
            <a:ext cx="64008" cy="89611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58191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1480" y="1837944"/>
            <a:ext cx="91440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66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1837944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 pts máx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408176" y="1819656"/>
            <a:ext cx="15636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por proximidade (haversine). Chapas mais perto = score maior.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18688" y="1508760"/>
            <a:ext cx="2788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18688" y="1508760"/>
            <a:ext cx="64008" cy="89611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55848" y="158191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finalizadas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355848" y="1837944"/>
            <a:ext cx="91440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66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55848" y="1837944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 pts máx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352544" y="1819656"/>
            <a:ext cx="15636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experiência = mais pontos. Cap em 100 tarefas.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163056" y="1508760"/>
            <a:ext cx="2788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163056" y="1508760"/>
            <a:ext cx="64008" cy="89611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00216" y="158191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Recência de atividade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300216" y="1837944"/>
            <a:ext cx="91440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66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0216" y="1837944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 pts máx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296912" y="1819656"/>
            <a:ext cx="15636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nos últimos 30 dias: +40 pts. 90 dias: +20. 180 dias: +5.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74320" y="2496312"/>
            <a:ext cx="2788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74320" y="2496312"/>
            <a:ext cx="64008" cy="89611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" y="256946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no sistema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11480" y="2825496"/>
            <a:ext cx="91440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1480" y="2825496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pts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1408176" y="2807208"/>
            <a:ext cx="15636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"Ativo" = +20 pts. "Ainda não ativo" = +5 pts.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3218688" y="2496312"/>
            <a:ext cx="2788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3218688" y="2496312"/>
            <a:ext cx="64008" cy="89611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355848" y="256946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 (verificação)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355848" y="2825496"/>
            <a:ext cx="91440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355848" y="2825496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pts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4352544" y="2807208"/>
            <a:ext cx="15636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Chapa com verificação de antecedentes recebe bônus adicional.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163056" y="2496312"/>
            <a:ext cx="2788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163056" y="2496312"/>
            <a:ext cx="64008" cy="89611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300216" y="256946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Leo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6300216" y="2825496"/>
            <a:ext cx="914400" cy="173736"/>
          </a:xfrm>
          <a:prstGeom prst="rect">
            <a:avLst/>
          </a:prstGeom>
          <a:solidFill>
            <a:srgbClr val="FFF3F3"/>
          </a:solidFill>
          <a:ln w="6350">
            <a:solidFill>
              <a:srgbClr val="D32F2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300216" y="2825496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 / -40 pts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7296912" y="2807208"/>
            <a:ext cx="15636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&gt;75% aceite: +50 pts. Recorrente: +20 pts. &lt;20% aceite: -40 pts.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274320" y="3547872"/>
            <a:ext cx="8677656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57200" y="3657600"/>
            <a:ext cx="1554480" cy="80467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57200" y="3657600"/>
            <a:ext cx="1554480" cy="4572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72160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Bloqueados visíveis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530352" y="4059936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separada com motivo de bloqueio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2176272" y="3657600"/>
            <a:ext cx="1554480" cy="80467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176272" y="3657600"/>
            <a:ext cx="1554480" cy="4572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249424" y="372160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Ocupação detectada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2249424" y="4059936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se chapa já está em outra tarefa no mesmo dia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3895344" y="3657600"/>
            <a:ext cx="1554480" cy="80467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895344" y="3657600"/>
            <a:ext cx="1554480" cy="4572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968496" y="372160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em tempo real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3968496" y="4059936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 em lote cancelável a qualquer momento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5614416" y="3657600"/>
            <a:ext cx="1554480" cy="80467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614416" y="3657600"/>
            <a:ext cx="1554480" cy="4572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687568" y="372160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Calc. de valor integrada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687568" y="4059936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 MCM garantido na negociação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7333488" y="3657600"/>
            <a:ext cx="1554480" cy="80467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333488" y="3657600"/>
            <a:ext cx="1554480" cy="4572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406640" y="372160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[Futuro] Negócios locais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7406640" y="4059936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estabelecimentos nas redondezas</a:t>
            </a:r>
            <a:endParaRPr lang="en-US" sz="750" dirty="0"/>
          </a:p>
        </p:txBody>
      </p:sp>
      <p:sp>
        <p:nvSpPr>
          <p:cNvPr id="65" name="Shape 6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67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9D00C1EA-5985-0524-1811-5309FD9DB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74019"/>
            <a:ext cx="605961" cy="5389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Comparativo AS-IS × TO-BE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06070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de impacto por etapa do processo de BID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353312"/>
            <a:ext cx="283464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353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154680" y="1353312"/>
            <a:ext cx="2057400" cy="32004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46120" y="13533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(atual)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257800" y="1353312"/>
            <a:ext cx="214884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49240" y="135331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(MCM)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452360" y="1353312"/>
            <a:ext cx="1463040" cy="32004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43800" y="13533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1673352"/>
            <a:ext cx="28346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54680" y="1673352"/>
            <a:ext cx="20574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257800" y="1673352"/>
            <a:ext cx="21488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52360" y="1673352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7472" y="1673352"/>
            <a:ext cx="27249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tarefas e vagas abertas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227832" y="1673352"/>
            <a:ext cx="19476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min (dashboard web)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330952" y="1673352"/>
            <a:ext cx="20391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min (MCM local)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7616952" y="1737360"/>
            <a:ext cx="1133856" cy="228600"/>
          </a:xfrm>
          <a:prstGeom prst="rect">
            <a:avLst/>
          </a:prstGeom>
          <a:solidFill>
            <a:srgbClr val="F1FFF4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16952" y="1737360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74320" y="2029968"/>
            <a:ext cx="283464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154680" y="2029968"/>
            <a:ext cx="205740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257800" y="2029968"/>
            <a:ext cx="214884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52360" y="2029968"/>
            <a:ext cx="146304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7472" y="2029968"/>
            <a:ext cx="27249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 preparação de dados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227832" y="2029968"/>
            <a:ext cx="19476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min (Excel, 21 colunas)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330952" y="2029968"/>
            <a:ext cx="20391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 (chapa_registry)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7616952" y="2093976"/>
            <a:ext cx="1133856" cy="228600"/>
          </a:xfrm>
          <a:prstGeom prst="rect">
            <a:avLst/>
          </a:prstGeom>
          <a:solidFill>
            <a:srgbClr val="F1FFF4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16952" y="209397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274320" y="2386584"/>
            <a:ext cx="28346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154680" y="2386584"/>
            <a:ext cx="20574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257800" y="2386584"/>
            <a:ext cx="21488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52360" y="2386584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47472" y="2386584"/>
            <a:ext cx="27249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Ranqueamento de candidatos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3227832" y="2386584"/>
            <a:ext cx="19476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Pulado ou manual (critério próprio)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330952" y="2386584"/>
            <a:ext cx="20391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 (score composto)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7616952" y="2450592"/>
            <a:ext cx="1133856" cy="22860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616952" y="245059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Qualitativo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274320" y="2743200"/>
            <a:ext cx="283464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154680" y="2743200"/>
            <a:ext cx="205740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257800" y="2743200"/>
            <a:ext cx="214884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452360" y="2743200"/>
            <a:ext cx="146304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47472" y="2743200"/>
            <a:ext cx="27249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 de ocupação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3227832" y="2743200"/>
            <a:ext cx="19476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Invisível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5330952" y="2743200"/>
            <a:ext cx="20391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em tempo real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7616952" y="2807208"/>
            <a:ext cx="1133856" cy="22860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616952" y="2807208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Qualitativo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274320" y="3099816"/>
            <a:ext cx="28346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154680" y="3099816"/>
            <a:ext cx="20574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257800" y="3099816"/>
            <a:ext cx="21488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452360" y="3099816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47472" y="3099816"/>
            <a:ext cx="27249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e disparo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3227832" y="3099816"/>
            <a:ext cx="19476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min/tarefa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5330952" y="3099816"/>
            <a:ext cx="20391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3–8 min/tarefa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7616952" y="3163824"/>
            <a:ext cx="1133856" cy="228600"/>
          </a:xfrm>
          <a:prstGeom prst="rect">
            <a:avLst/>
          </a:prstGeom>
          <a:solidFill>
            <a:srgbClr val="F1FFF4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616952" y="3163824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274320" y="3456432"/>
            <a:ext cx="283464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3154680" y="3456432"/>
            <a:ext cx="205740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257800" y="3456432"/>
            <a:ext cx="214884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452360" y="3456432"/>
            <a:ext cx="146304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47472" y="3456432"/>
            <a:ext cx="27249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de disparo em tempo real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3227832" y="3456432"/>
            <a:ext cx="19476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Impossível (Umbler)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5330952" y="3456432"/>
            <a:ext cx="20391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 (MCM)</a:t>
            </a:r>
            <a:endParaRPr lang="en-US" sz="800" dirty="0"/>
          </a:p>
        </p:txBody>
      </p:sp>
      <p:sp>
        <p:nvSpPr>
          <p:cNvPr id="66" name="Shape 63"/>
          <p:cNvSpPr/>
          <p:nvPr/>
        </p:nvSpPr>
        <p:spPr>
          <a:xfrm>
            <a:off x="7616952" y="3520440"/>
            <a:ext cx="1133856" cy="228600"/>
          </a:xfrm>
          <a:prstGeom prst="rect">
            <a:avLst/>
          </a:prstGeom>
          <a:solidFill>
            <a:srgbClr val="F2F1EF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616952" y="3520440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cap.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274320" y="3813048"/>
            <a:ext cx="28346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154680" y="3813048"/>
            <a:ext cx="20574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257800" y="3813048"/>
            <a:ext cx="21488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7452360" y="3813048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347472" y="3813048"/>
            <a:ext cx="27249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 de valor</a:t>
            </a:r>
            <a:endParaRPr lang="en-US" sz="850" dirty="0"/>
          </a:p>
        </p:txBody>
      </p:sp>
      <p:sp>
        <p:nvSpPr>
          <p:cNvPr id="73" name="Text 70"/>
          <p:cNvSpPr/>
          <p:nvPr/>
        </p:nvSpPr>
        <p:spPr>
          <a:xfrm>
            <a:off x="3227832" y="3813048"/>
            <a:ext cx="19476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externa separada</a:t>
            </a:r>
            <a:endParaRPr lang="en-US" sz="800" dirty="0"/>
          </a:p>
        </p:txBody>
      </p:sp>
      <p:sp>
        <p:nvSpPr>
          <p:cNvPr id="74" name="Text 71"/>
          <p:cNvSpPr/>
          <p:nvPr/>
        </p:nvSpPr>
        <p:spPr>
          <a:xfrm>
            <a:off x="5330952" y="3813048"/>
            <a:ext cx="20391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integrada no MCM</a:t>
            </a:r>
            <a:endParaRPr lang="en-US" sz="800" dirty="0"/>
          </a:p>
        </p:txBody>
      </p:sp>
      <p:sp>
        <p:nvSpPr>
          <p:cNvPr id="75" name="Shape 72"/>
          <p:cNvSpPr/>
          <p:nvPr/>
        </p:nvSpPr>
        <p:spPr>
          <a:xfrm>
            <a:off x="7616952" y="3877056"/>
            <a:ext cx="1133856" cy="22860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7616952" y="387705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Qualitativo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274320" y="4169664"/>
            <a:ext cx="283464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154680" y="4169664"/>
            <a:ext cx="205740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5257800" y="4169664"/>
            <a:ext cx="214884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7452360" y="4169664"/>
            <a:ext cx="1463040" cy="35661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347472" y="4169664"/>
            <a:ext cx="27249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aceite/rejeição</a:t>
            </a:r>
            <a:endParaRPr lang="en-US" sz="850" dirty="0"/>
          </a:p>
        </p:txBody>
      </p:sp>
      <p:sp>
        <p:nvSpPr>
          <p:cNvPr id="82" name="Text 79"/>
          <p:cNvSpPr/>
          <p:nvPr/>
        </p:nvSpPr>
        <p:spPr>
          <a:xfrm>
            <a:off x="3227832" y="4169664"/>
            <a:ext cx="19476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do analista</a:t>
            </a:r>
            <a:endParaRPr lang="en-US" sz="800" dirty="0"/>
          </a:p>
        </p:txBody>
      </p:sp>
      <p:sp>
        <p:nvSpPr>
          <p:cNvPr id="83" name="Text 80"/>
          <p:cNvSpPr/>
          <p:nvPr/>
        </p:nvSpPr>
        <p:spPr>
          <a:xfrm>
            <a:off x="5330952" y="4169664"/>
            <a:ext cx="20391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Leo (banco de dados)</a:t>
            </a:r>
            <a:endParaRPr lang="en-US" sz="800" dirty="0"/>
          </a:p>
        </p:txBody>
      </p:sp>
      <p:sp>
        <p:nvSpPr>
          <p:cNvPr id="84" name="Shape 81"/>
          <p:cNvSpPr/>
          <p:nvPr/>
        </p:nvSpPr>
        <p:spPr>
          <a:xfrm>
            <a:off x="7616952" y="4233672"/>
            <a:ext cx="1133856" cy="22860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7616952" y="42336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Qualitativo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274320" y="4526280"/>
            <a:ext cx="28346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154680" y="4526280"/>
            <a:ext cx="20574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5257800" y="4526280"/>
            <a:ext cx="21488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7452360" y="4526280"/>
            <a:ext cx="14630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347472" y="4526280"/>
            <a:ext cx="27249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ativo (ligações)</a:t>
            </a:r>
            <a:endParaRPr lang="en-US" sz="850" dirty="0"/>
          </a:p>
        </p:txBody>
      </p:sp>
      <p:sp>
        <p:nvSpPr>
          <p:cNvPr id="91" name="Text 88"/>
          <p:cNvSpPr/>
          <p:nvPr/>
        </p:nvSpPr>
        <p:spPr>
          <a:xfrm>
            <a:off x="3227832" y="4526280"/>
            <a:ext cx="19476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 — menos de 10% sucesso</a:t>
            </a:r>
            <a:endParaRPr lang="en-US" sz="800" dirty="0"/>
          </a:p>
        </p:txBody>
      </p:sp>
      <p:sp>
        <p:nvSpPr>
          <p:cNvPr id="92" name="Text 89"/>
          <p:cNvSpPr/>
          <p:nvPr/>
        </p:nvSpPr>
        <p:spPr>
          <a:xfrm>
            <a:off x="5330952" y="4526280"/>
            <a:ext cx="20391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 MCM + stand-by digital</a:t>
            </a:r>
            <a:endParaRPr lang="en-US" sz="800" dirty="0"/>
          </a:p>
        </p:txBody>
      </p:sp>
      <p:sp>
        <p:nvSpPr>
          <p:cNvPr id="93" name="Shape 90"/>
          <p:cNvSpPr/>
          <p:nvPr/>
        </p:nvSpPr>
        <p:spPr>
          <a:xfrm>
            <a:off x="7616952" y="4590288"/>
            <a:ext cx="1133856" cy="22860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7616952" y="4590288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Qualitativo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98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FD04CD70-C02F-29B1-38FF-A476F6CE7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74019"/>
            <a:ext cx="605961" cy="5389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ROI: Quanto Custa o BID Hoje?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custo real de disparos BID (janeiro — junho 2026)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481328"/>
            <a:ext cx="859536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5179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27.559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5760" y="17556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realizadas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514600" y="15179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60.149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514600" y="17556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chapas requisitados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663440" y="15179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55.997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663440" y="17556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chapas entregues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812280" y="15179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93,1%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812280" y="17556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74320" y="2121408"/>
            <a:ext cx="4160520" cy="2807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121408"/>
            <a:ext cx="4160520" cy="6400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223113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Atual (AS-IS)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11480" y="259689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172.854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847088" y="264261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disparos de template BID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11480" y="2916936"/>
            <a:ext cx="3886200" cy="914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29352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34.519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847088" y="298094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únicos contatados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11480" y="3255264"/>
            <a:ext cx="3886200" cy="914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32735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45,5%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847088" y="3319272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aceite geral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11480" y="3593592"/>
            <a:ext cx="3886200" cy="914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3611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12.418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847088" y="365760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chapas APROVADOS (&gt;75% aceite)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11480" y="3931920"/>
            <a:ext cx="3886200" cy="914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1480" y="39502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3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R$ 60.499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847088" y="3995928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estimado em 5 meses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11480" y="4270248"/>
            <a:ext cx="3886200" cy="914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" y="428853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3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R$ 144.997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847088" y="433425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anual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11480" y="4733862"/>
            <a:ext cx="3886200" cy="137160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11480" y="4740959"/>
            <a:ext cx="3886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R$ 0,35/template (Meta Marketing Brasil, 2026) • Umbler pode aplicar markup adicional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709160" y="2121407"/>
            <a:ext cx="4160520" cy="2807207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709160" y="2121408"/>
            <a:ext cx="416052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46320" y="223113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com MCM (TO-BE)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846320" y="2596896"/>
            <a:ext cx="3886200" cy="1005840"/>
          </a:xfrm>
          <a:prstGeom prst="rect">
            <a:avLst/>
          </a:prstGeom>
          <a:solidFill>
            <a:srgbClr val="F1FFF4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46320" y="2651760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R$ 36K — R$ 51K</a:t>
            </a:r>
            <a:endParaRPr lang="en-US" sz="3000" dirty="0"/>
          </a:p>
        </p:txBody>
      </p:sp>
      <p:sp>
        <p:nvSpPr>
          <p:cNvPr id="42" name="Text 39"/>
          <p:cNvSpPr/>
          <p:nvPr/>
        </p:nvSpPr>
        <p:spPr>
          <a:xfrm>
            <a:off x="4846320" y="323697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estimada por ano em templates BID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846320" y="3694176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Redução conservadora de disparos: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223760" y="3694176"/>
            <a:ext cx="1527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= − 43.213 templates/ano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846320" y="395020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Redução otimista de disparos: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7223760" y="3950208"/>
            <a:ext cx="1527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= − 60.499 templates/ano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846320" y="420624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 por chapa entregue hoje: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7223760" y="4206240"/>
            <a:ext cx="1527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R$ 1,08 (R$ 60.499 ÷ 55.997)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846320" y="4462272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12.418 APROVADOS priorizados: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7223760" y="4462272"/>
            <a:ext cx="1527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+75% aceite → menos desperdício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4846320" y="4729426"/>
            <a:ext cx="3886200" cy="137160"/>
          </a:xfrm>
          <a:prstGeom prst="rect">
            <a:avLst/>
          </a:prstGeom>
          <a:solidFill>
            <a:srgbClr val="F1FFF4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846320" y="4727448"/>
            <a:ext cx="3886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com otimização de disparos — não inclui ganhos de tempo de analista</a:t>
            </a:r>
            <a:endParaRPr lang="en-US" sz="650" dirty="0"/>
          </a:p>
        </p:txBody>
      </p:sp>
      <p:sp>
        <p:nvSpPr>
          <p:cNvPr id="53" name="Shape 50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54" name="Image 1" descr="C:\Users\W Design\task-flow-hub\src\assets\logo-meucha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983480"/>
            <a:ext cx="1143000" cy="402336"/>
          </a:xfrm>
          <a:prstGeom prst="rect">
            <a:avLst/>
          </a:prstGeom>
        </p:spPr>
      </p:pic>
      <p:pic>
        <p:nvPicPr>
          <p:cNvPr id="55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B04EB925-79B8-6484-5174-EE98DBCC1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74019"/>
            <a:ext cx="605961" cy="5389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987552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Conclusão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713232" y="2633472"/>
            <a:ext cx="512064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3232" y="2788920"/>
            <a:ext cx="182880" cy="182880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9264" y="27614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BID exige 2 a 4 horas diárias de trabalho ativo, com alta dependência de conhecimento tácito individual.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13232" y="3209544"/>
            <a:ext cx="182880" cy="182880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9264" y="31821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MCM reduz esse tempo para 40 min a 1,5h, com ranqueamento automático e histórico centralizado.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13232" y="3630168"/>
            <a:ext cx="182880" cy="182880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9264" y="36027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com disparos: economia estimada de R$ 36K a R$ 51K por ano em templates WhatsApp.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13232" y="4050792"/>
            <a:ext cx="182880" cy="182880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9264" y="4023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calculadora e as </a:t>
            </a:r>
            <a:r>
              <a:rPr lang="en-US" sz="95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5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</a:t>
            </a: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BID (</a:t>
            </a:r>
            <a:r>
              <a:rPr lang="en-US" sz="950" dirty="0" err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Leo) transformam a negociação de tácita para orientada a dados.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13232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2026  •  MCM — Meu Chapa Manager</a:t>
            </a:r>
            <a:endParaRPr lang="en-US" sz="900" dirty="0"/>
          </a:p>
        </p:txBody>
      </p:sp>
      <p:pic>
        <p:nvPicPr>
          <p:cNvPr id="34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4F83C41E-4E15-2CD3-283B-A7A9EEC10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74018"/>
            <a:ext cx="1368052" cy="12167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403F53"/>
      </a:dk1>
      <a:lt1>
        <a:sysClr val="window" lastClr="F6F6F6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403F53"/>
      </a:dk1>
      <a:lt1>
        <a:sysClr val="window" lastClr="F6F6F6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2080</Words>
  <Application>Microsoft Office PowerPoint</Application>
  <PresentationFormat>Apresentação na tela (16:9)</PresentationFormat>
  <Paragraphs>385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Mapeamento de Processo BID — MCM</dc:title>
  <dc:subject>PptxGenJS Presentation</dc:subject>
  <dc:creator>PptxGenJS</dc:creator>
  <cp:lastModifiedBy>W Design</cp:lastModifiedBy>
  <cp:revision>2</cp:revision>
  <dcterms:created xsi:type="dcterms:W3CDTF">2026-06-05T01:53:19Z</dcterms:created>
  <dcterms:modified xsi:type="dcterms:W3CDTF">2026-06-05T01:59:50Z</dcterms:modified>
</cp:coreProperties>
</file>