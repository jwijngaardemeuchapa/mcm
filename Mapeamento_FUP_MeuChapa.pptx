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03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4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7869"/>
            <a:ext cx="958619" cy="8762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188720"/>
            <a:ext cx="1828800" cy="2743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×  TO-BE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1572768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Mapeamento de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 FUP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de Chapas — Fluxo Operacional do Analista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4846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3" name="Image 0" descr="C:\Users\W Design\task-flow-hub\src\assets\logo-meuch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processo de FUP?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97591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de presença de chapas antes do início de cada tarefa operacional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2105986"/>
            <a:ext cx="5394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105986"/>
            <a:ext cx="64008" cy="13258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6999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FUP?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471746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Follow-Up é o processo de confirmar a presença dos chapas (ajudantes) antes do início de cada tarefa operacional — cargas, descargas e movimentações logísticas. É executado diariamente pelo analista, em paralelo com dezenas de tarefas simultâneas, envolvendo comunicação ativa com chapas, clientes e o time de BID.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2105986"/>
            <a:ext cx="2971800" cy="1325880"/>
          </a:xfrm>
          <a:prstGeom prst="rect">
            <a:avLst/>
          </a:prstGeom>
          <a:solidFill>
            <a:srgbClr val="FFF0E6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0" y="2105986"/>
            <a:ext cx="64008" cy="13258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6999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deste documento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248089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Documentar o processo atual (AS-IS)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269120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Mapear as melhorias implementadas (TO-BE)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53328" y="290151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Estimar ganhos de tempo por etapa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3328" y="311182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Subsidiar processualização do time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5943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7000" dirty="0"/>
          </a:p>
          <a:p>
            <a:pPr marL="0" indent="0" algn="l">
              <a:buNone/>
            </a:pPr>
            <a:r>
              <a:rPr lang="en-US" sz="7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Atual</a:t>
            </a:r>
            <a:endParaRPr lang="en-US" sz="7000" dirty="0"/>
          </a:p>
        </p:txBody>
      </p:sp>
      <p:sp>
        <p:nvSpPr>
          <p:cNvPr id="5" name="Shape 3"/>
          <p:cNvSpPr/>
          <p:nvPr/>
        </p:nvSpPr>
        <p:spPr>
          <a:xfrm>
            <a:off x="713232" y="329184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429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AS-IS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3931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 — sem o FUP Manager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Processo Atual (AS-IS)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macro do dia operacional do analista de FUP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901952"/>
            <a:ext cx="776325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Dashboard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online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5–10 min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96596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6596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4592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4592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0992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0992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CTRL+C/V → Excel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73736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3736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20–30 min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38328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6324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06324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2724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2724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Umbler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15468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5468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min/tarefa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0060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8056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8056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Respostas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4456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+ 3C + WhatsApp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60–120 min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21792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89788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89788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6188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Presença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96188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do cliente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98932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8932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15–20 min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635240" y="1600200"/>
            <a:ext cx="676656" cy="676656"/>
          </a:xfrm>
          <a:prstGeom prst="ellipse">
            <a:avLst/>
          </a:prstGeom>
          <a:solidFill>
            <a:srgbClr val="FF6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52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31520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315200" y="2487168"/>
            <a:ext cx="1353312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792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37920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+ Metabase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406640" y="3840480"/>
            <a:ext cx="1170432" cy="274320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066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Dia todo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POR DIA  •  3 a 5 horas de trabalho ativo de FUP  •  dezenas de tarefas simultâneas</a:t>
            </a:r>
            <a:endParaRPr lang="en-US" sz="1050" dirty="0"/>
          </a:p>
        </p:txBody>
      </p:sp>
      <p:pic>
        <p:nvPicPr>
          <p:cNvPr id="5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636E7FDB-24A1-134B-D6F9-9AD068FFB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1–2: Abertura e Extração de Dados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009490" y="796517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09490" y="79651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303020"/>
            <a:ext cx="5303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303020"/>
            <a:ext cx="54864" cy="6675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431036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4310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" y="13761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MeuChapa Online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1650492"/>
            <a:ext cx="1325880" cy="18288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6504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194560" y="1613916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tarefas com status "Em Aberto" e "Aguardando Início" no dashboard.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025396"/>
            <a:ext cx="5303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025396"/>
            <a:ext cx="54864" cy="6675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153412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153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95528" y="20985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chapas por tarefa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" y="2372868"/>
            <a:ext cx="1325880" cy="18288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23728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MeuChapa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194560" y="2336292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nomes, telefones e quantidades de cada tarefa — uma a uma.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2747772"/>
            <a:ext cx="5303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747772"/>
            <a:ext cx="54864" cy="6675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2875788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2875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5528" y="28209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dados manualmente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95528" y="3095244"/>
            <a:ext cx="1325880" cy="18288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" y="30952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/ CTRL+V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194560" y="3058668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 nomes e telefones para planilha Excel. Processo repetido para cada chapa de cada tarefa.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470148"/>
            <a:ext cx="5303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470148"/>
            <a:ext cx="54864" cy="6675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1480" y="3598164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5981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95528" y="35433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planilha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95528" y="3817620"/>
            <a:ext cx="1325880" cy="18288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" y="38176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194560" y="378104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colunas: Nome | Telefone | Status FUP. Limpar hyperlinks residuais do dashboard.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74320" y="4192524"/>
            <a:ext cx="5303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74320" y="4192524"/>
            <a:ext cx="54864" cy="6675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320540"/>
            <a:ext cx="310896" cy="310896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43205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95528" y="42656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CSV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95528" y="4539996"/>
            <a:ext cx="1325880" cy="182880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" y="453999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Salvar como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194560" y="450342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arquivo CSV formatado para importação na Umbler.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806440" y="1303020"/>
            <a:ext cx="3017520" cy="137160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1303020"/>
            <a:ext cx="54864" cy="13716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16168" y="13944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916168" y="16230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100% manual via CTRL+C por chapa. Com dezenas de tarefas simultâneas, o risco de omitir algum chapa ou tarefa é alto. Não há confirmação visual de completude.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06440" y="281178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06440" y="28117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20–30 min por manhã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806440" y="3195828"/>
            <a:ext cx="3017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5943600" y="32689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943600" y="35615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 Dashboard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943600" y="37627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CTRL+C / CTRL+V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5943600" y="39639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(planilha manual)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5943600" y="41650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Limpar hyperlinks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943600" y="43662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.CSV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E8F5C0CB-70BC-3FF9-EDFC-D57BEF44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 3: Disparo do FUP via Umbler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033675" y="808289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3675" y="80828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12102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12102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23075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307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117589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Umbler Talk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143192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43192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/ App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084832" y="141363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 plataforma de disparos de campanha WhatsApp.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176110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176110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187083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8708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181597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nova campanha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207200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07200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084832" y="205371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campanha separada por tarefa (empresa + horário).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240118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40118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251091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251091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245605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dados da tarefa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271208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271208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084832" y="269379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horário de início, endereço, quantidade de chapas — digitado manualmente.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04126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04126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1480" y="315099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15099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77240" y="309613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CSV com contatos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77240" y="335216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335216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CSV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084832" y="333387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upload do arquivo gerado no Excel com os chapas da tarefa.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74320" y="368134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74320" y="368134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379107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37910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7240" y="373621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mensagem FUP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77240" y="399224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399224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Umbler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084832" y="397395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ou ajustar o template de mensagem de confirmação de presença.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74320" y="4321427"/>
            <a:ext cx="5303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274320" y="4321427"/>
            <a:ext cx="54864" cy="58521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4431155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1480" y="443115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77240" y="437629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 e aguardar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777240" y="4632323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77240" y="4632323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084832" y="4614035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campanha e monitorar as primeiras respostas chegando.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5806440" y="1121027"/>
            <a:ext cx="3017520" cy="164592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06440" y="1121027"/>
            <a:ext cx="54864" cy="16459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16168" y="1212467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916168" y="1441067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é repetido manualmente para cada tarefa do dia. Com múltiplas empresas e horários diferentes, pode haver 5 a 15 campanhas criadas por dia, cada uma exigindo preenchimento completo e upload de CSV individual.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5806440" y="2904107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06440" y="2904107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10–20 min por tarefa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806440" y="3269867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5943600" y="3343019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carga por dia: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5943600" y="3617339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a 15 campanhas disparadas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dia de trabalho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6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0C8972EF-9EB6-D8F8-6567-C4270061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827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 4: Monitoramento de Respostas e Gestão de Ausências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726680" y="1106424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06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508760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508760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636776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1572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respostas na Umbler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1847088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84708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Umbler Talk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084832" y="181965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mensagens recebidas de cada campanha em tempo real.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185416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85416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2249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status no Excel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2523744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523744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(manual)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084832" y="249631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"Confirmado", "Cancelado" ou aguardar em coluna de controle.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2862072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862072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2990088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Gerir cancelamentos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3200400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200400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MeuChapa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084832" y="317296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motivo → acionar BID → verificar prazo com cliente → criar ocorrência.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538728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538728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77240" y="3602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aba por tarefa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77240" y="3877056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3877056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084832" y="384962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abas nomeadas com empresa + horário para controle visual simultâneo.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74320" y="4215384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74320" y="4215384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343400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724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ativo ~1h antes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77240" y="4553712"/>
            <a:ext cx="123444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4553712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3C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084832" y="452628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para chapas sem retorno. Se não atender, remover da tarefa.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806440" y="1508760"/>
            <a:ext cx="3017520" cy="17830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1508760"/>
            <a:ext cx="54864" cy="17830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16168" y="1600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916168" y="1828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principal gargalo: não há como saber em tempo real há quanto tempo cada chapa foi tentado. Com dezenas de tarefas simultâneas, o controle manual no Excel torna difícil saber quem já foi contatado, quando, e o que falta fazer.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06440" y="342900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064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60–120 min (contínuo)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806440" y="3794760"/>
            <a:ext cx="30175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5943600" y="3858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em uso simultâneo: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943600" y="4133088"/>
            <a:ext cx="2743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Umbler Talk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943600" y="4251960"/>
            <a:ext cx="2743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943600" y="4370832"/>
            <a:ext cx="2743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Web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943600" y="4489704"/>
            <a:ext cx="2743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MeuChapa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5943600" y="4608576"/>
            <a:ext cx="2743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Plataforma 3C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62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F75957C7-C676-78F7-FF0D-CE8DBFE7F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Etapas 5–6: Validação de Presença e Acompanhamento Contínuo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726680" y="1170432"/>
            <a:ext cx="1097280" cy="237744"/>
          </a:xfrm>
          <a:prstGeom prst="rect">
            <a:avLst/>
          </a:prstGeom>
          <a:solidFill>
            <a:srgbClr val="FFF0E6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1704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508760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508760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636776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15727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presença no grupo do cliente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1847088"/>
            <a:ext cx="155448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184708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404872" y="1819656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ao responsável quais chapas estão fisicamente no local no horário de início.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2185416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185416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22494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ausentes e atualizar status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2523744"/>
            <a:ext cx="155448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2523744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MeuChapa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404872" y="2496312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chapas ausentes da tarefa. Passar para "Em Andamento" apenas com validados.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2862072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862072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1480" y="2990088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grupos continuamente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3200400"/>
            <a:ext cx="155448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200400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(múltiplos grupos)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404872" y="317296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tardias, horas extras, comprovantes de pagamento, chapas não alocados.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74320" y="3538728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538728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1480" y="3666744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77240" y="36027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solicitações de chapas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77240" y="3877056"/>
            <a:ext cx="155448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7240" y="3877056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direto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2404872" y="3849624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Ajudantes das empresas que acompanhamos fazem solicitações diretas em paralelo.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74320" y="4215384"/>
            <a:ext cx="530352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50800" dist="254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274320" y="4215384"/>
            <a:ext cx="54864" cy="6126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343400"/>
            <a:ext cx="292608" cy="29260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7240" y="42793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histórica de presença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77240" y="4553712"/>
            <a:ext cx="1554480" cy="173736"/>
          </a:xfrm>
          <a:prstGeom prst="rect">
            <a:avLst/>
          </a:prstGeom>
          <a:solidFill>
            <a:srgbClr val="FFF0E6"/>
          </a:solidFill>
          <a:ln w="6350">
            <a:solidFill>
              <a:srgbClr val="FFE0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7240" y="4553712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404872" y="4526280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→ Ativação → Tabela FUP → Filtros. Cada página carrega em 5–10 segundos.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806440" y="1508760"/>
            <a:ext cx="3017520" cy="17830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1508760"/>
            <a:ext cx="54864" cy="17830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16168" y="16002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916168" y="1828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históricas exigem navegação em múltiplas telas no Metabase com 5–10s de carregamento por página. O acompanhamento dos grupos de clientes exige atenção constante e ininterrupta ao longo de todo o dia.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806440" y="3429000"/>
            <a:ext cx="3017520" cy="256032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064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15–20 min + dia todo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806440" y="3794760"/>
            <a:ext cx="3017520" cy="91440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43600" y="3858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histórica (Metabase):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943600" y="4133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→ Ativação de Chapas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Tabela FUP → Filtros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5–10s por página carregada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58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B909EF29-8F5E-A84D-95EE-0ABC4E4CB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Principais Gargalos do Processo Atual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11704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pontos críticos que impactam a eficiência e a qualidade do FUP diário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554480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554480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6642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Manual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de nomes e telefones um a um. Risco de omissão e erro com múltiplas tarefas.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3072384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3072384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182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11480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Cronômetro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8770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saber em tempo real há quanto tempo uma tentativa de contato foi feita por chapa.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044952" y="1554480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44952" y="1554480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82112" y="16642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182112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em Planilha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182112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digitado manualmente no Excel. Sem histórico automático nem rastreabilidade centralizada.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044952" y="3072384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44952" y="3072384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82112" y="3182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182112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Lenta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182112" y="38770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via Metabase carrega em 5–10 segundos por página. Prejudica consultas urgentes.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15584" y="1554480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15584" y="1554480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52744" y="16642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5952744" y="2057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de Abas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52744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aba de navegador por tarefa para controle visual. Difícil gerenciar sem perder contexto.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815584" y="3072384"/>
            <a:ext cx="2651760" cy="1389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3072384"/>
            <a:ext cx="265176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52744" y="31821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952744" y="357530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 Constante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952744" y="38770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BID, grupos de clientes, solicitações de chapas — tudo simultâneo sem centralização de contexto.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pic>
        <p:nvPicPr>
          <p:cNvPr id="38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777F19E5-E54C-7D03-CFA6-F077EE20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5720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Processo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Proposto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13232" y="3429000"/>
            <a:ext cx="1371600" cy="640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TO-BE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4069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FUP Manager transforma cada etapa do processo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Geral — Processo Implementado (TO-BE)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FUP Manager transforma o dia operacional do analista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66928" y="1901952"/>
            <a:ext cx="7763256" cy="6400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" y="2542032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</a:t>
            </a: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2608" y="3387920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MCM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2–3 min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96596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6596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4592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64592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0992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0992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MCM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73736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3736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1–2 min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38328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6324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06324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2724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2724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via webhook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15468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5468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2–5 min/tarefa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0060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8056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8056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Timestamp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4456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Automático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21792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89788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89788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6188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96188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local + histórico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98932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8932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3–8 min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635240" y="1600200"/>
            <a:ext cx="676656" cy="676656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635240" y="16002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315200" y="2487168"/>
            <a:ext cx="135331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315200" y="2487168"/>
            <a:ext cx="1353312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79208" y="2578608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379208" y="3328416"/>
            <a:ext cx="12252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</a:t>
            </a: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CSV → MCM</a:t>
            </a:r>
            <a:endParaRPr lang="en-US" sz="850" dirty="0"/>
          </a:p>
          <a:p>
            <a:pPr algn="ctr"/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406640" y="3840480"/>
            <a:ext cx="1170432" cy="274320"/>
          </a:xfrm>
          <a:prstGeom prst="rect">
            <a:avLst/>
          </a:prstGeom>
          <a:solidFill>
            <a:srgbClr val="F1FFF4"/>
          </a:solidFill>
          <a:ln w="9525">
            <a:solidFill>
              <a:srgbClr val="C8E6C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06640" y="3840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&lt;1 segundo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700016"/>
            <a:ext cx="85953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 POR DIA  •  45 min a 1,5 hora de FUP ativo  •  histórico, timestamps e validações centralizados</a:t>
            </a:r>
            <a:endParaRPr lang="en-US" sz="1050" dirty="0"/>
          </a:p>
        </p:txBody>
      </p:sp>
      <p:pic>
        <p:nvPicPr>
          <p:cNvPr id="57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6EFFA3D1-BB2C-B3A2-4ACD-E16949561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85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Comparativo AS-IS × TO-BE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10607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tempo e impacto por etapa do processo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74320" y="1335024"/>
            <a:ext cx="32004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3350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20440" y="1335024"/>
            <a:ext cx="1920240" cy="34747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(atual)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1335024"/>
            <a:ext cx="19202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1335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(FUP Manager)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60920" y="1335024"/>
            <a:ext cx="1645920" cy="34747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3350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682496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1682496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40680" y="1682496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60920" y="168249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1682496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levantamento de tarefas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11880" y="168249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32120" y="168249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43800" y="1764792"/>
            <a:ext cx="1280160" cy="237744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1764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2084832"/>
            <a:ext cx="320040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20440" y="2084832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40680" y="2084832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60920" y="2084832"/>
            <a:ext cx="164592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2084832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dos chapas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611880" y="208483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532120" y="208483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43800" y="2167128"/>
            <a:ext cx="1280160" cy="237744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2487168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20440" y="2487168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40680" y="2487168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60920" y="248716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2487168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de campanha FUP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611880" y="248716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min/tarefa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532120" y="248716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min/tarefa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543800" y="2569464"/>
            <a:ext cx="1280160" cy="237744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3800" y="25694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74320" y="2889504"/>
            <a:ext cx="320040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20440" y="2889504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440680" y="2889504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60920" y="2889504"/>
            <a:ext cx="164592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2889504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respostas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3611880" y="288950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(Excel)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532120" y="288950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 (dashboard)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543800" y="2971800"/>
            <a:ext cx="1280160" cy="237744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43800" y="2971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274320" y="3291840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520440" y="3291840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40680" y="3291840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60920" y="3291840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65760" y="3291840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cancelamentos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3611880" y="329184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múltiplas ferramentas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532120" y="329184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guiado no app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543800" y="3374136"/>
            <a:ext cx="1280160" cy="237744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543800" y="3374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74320" y="3694176"/>
            <a:ext cx="320040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520440" y="3694176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40680" y="3694176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360920" y="3694176"/>
            <a:ext cx="164592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65760" y="3694176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ativo (ligações 3C)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3611880" y="369417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5532120" y="369417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visível no app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7543800" y="3776472"/>
            <a:ext cx="1280160" cy="237744"/>
          </a:xfrm>
          <a:prstGeom prst="rect">
            <a:avLst/>
          </a:prstGeom>
          <a:solidFill>
            <a:srgbClr val="F2F1E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543800" y="3776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74320" y="4096512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520440" y="4096512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440680" y="4096512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360920" y="4096512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65760" y="4096512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histórico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3611880" y="40965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 (Metabase)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532120" y="40965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(CSV local)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543800" y="4178808"/>
            <a:ext cx="1280160" cy="237744"/>
          </a:xfrm>
          <a:prstGeom prst="rect">
            <a:avLst/>
          </a:prstGeom>
          <a:solidFill>
            <a:srgbClr val="F1FFF4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543800" y="4178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274320" y="4498848"/>
            <a:ext cx="320040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520440" y="4498848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440680" y="4498848"/>
            <a:ext cx="192024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360920" y="4498848"/>
            <a:ext cx="1645920" cy="402336"/>
          </a:xfrm>
          <a:prstGeom prst="rect">
            <a:avLst/>
          </a:prstGeom>
          <a:solidFill>
            <a:srgbClr val="F2F1EF"/>
          </a:solidFill>
          <a:ln w="6350">
            <a:solidFill>
              <a:srgbClr val="E5E0D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65760" y="4498848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ocorrências</a:t>
            </a:r>
            <a:endParaRPr lang="en-US" sz="950" dirty="0"/>
          </a:p>
        </p:txBody>
      </p:sp>
      <p:sp>
        <p:nvSpPr>
          <p:cNvPr id="82" name="Text 79"/>
          <p:cNvSpPr/>
          <p:nvPr/>
        </p:nvSpPr>
        <p:spPr>
          <a:xfrm>
            <a:off x="3611880" y="449884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(criação individual)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5532120" y="449884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(MCM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ocorrência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9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7543800" y="4581144"/>
            <a:ext cx="1280160" cy="237744"/>
          </a:xfrm>
          <a:prstGeom prst="rect">
            <a:avLst/>
          </a:prstGeom>
          <a:solidFill>
            <a:srgbClr val="FFF0E6"/>
          </a:solidFill>
          <a:ln w="9525">
            <a:solidFill>
              <a:srgbClr val="FF660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7543800" y="45811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Qualitativo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pic>
        <p:nvPicPr>
          <p:cNvPr id="88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EDDBFC44-FD9D-5DD3-AA96-EA9C73C5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1"/>
            <a:ext cx="612784" cy="5219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0058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 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Passos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13232" y="2651760"/>
            <a:ext cx="5120640" cy="548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2788920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761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FUP concentra 3 a 5 horas diárias de trabalho ativo com alto grau de execução manual.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3232" y="3218688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31912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FUP Manager reduz esse tempo para 45 min a 1,5h, centralizando controle, timestamps e rastreabilidade.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3232" y="3648456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36210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eliminação do Excel como ferramenta de controle reduz drasticamente o risco de erro e omissão.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13232" y="4078224"/>
            <a:ext cx="201168" cy="20116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local resolve o gargalo de consultas lentas no Metabase.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3232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  •  MeuChapa</a:t>
            </a:r>
            <a:endParaRPr lang="en-US" sz="900" dirty="0"/>
          </a:p>
        </p:txBody>
      </p:sp>
      <p:pic>
        <p:nvPicPr>
          <p:cNvPr id="34" name="Image 0" descr="C:\Users\W Design\task-flow-hub\src\assets\logo-meuchapa.png">
            <a:extLst>
              <a:ext uri="{FF2B5EF4-FFF2-40B4-BE49-F238E27FC236}">
                <a16:creationId xmlns:a16="http://schemas.microsoft.com/office/drawing/2014/main" id="{92923BBB-54D3-CD88-07F6-4A4F74AE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44" y="164591"/>
            <a:ext cx="994649" cy="847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1435</Words>
  <Application>Microsoft Office PowerPoint</Application>
  <PresentationFormat>Apresentação na tela (16:9)</PresentationFormat>
  <Paragraphs>288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de Processo FUP — MeuChapa</dc:title>
  <dc:subject>PptxGenJS Presentation</dc:subject>
  <dc:creator>PptxGenJS</dc:creator>
  <cp:lastModifiedBy>W Design</cp:lastModifiedBy>
  <cp:revision>4</cp:revision>
  <dcterms:created xsi:type="dcterms:W3CDTF">2026-06-05T01:52:29Z</dcterms:created>
  <dcterms:modified xsi:type="dcterms:W3CDTF">2026-06-05T11:13:39Z</dcterms:modified>
</cp:coreProperties>
</file>